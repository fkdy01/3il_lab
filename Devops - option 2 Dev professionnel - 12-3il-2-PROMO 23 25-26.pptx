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authors.xml" ContentType="application/vnd.ms-powerpoint.author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395" r:id="rId4"/>
  </p:sldMasterIdLst>
  <p:notesMasterIdLst>
    <p:notesMasterId r:id="rId43"/>
  </p:notesMasterIdLst>
  <p:handoutMasterIdLst>
    <p:handoutMasterId r:id="rId44"/>
  </p:handoutMasterIdLst>
  <p:sldIdLst>
    <p:sldId id="1185" r:id="rId5"/>
    <p:sldId id="2147483307" r:id="rId6"/>
    <p:sldId id="2147483337" r:id="rId7"/>
    <p:sldId id="2147483412" r:id="rId8"/>
    <p:sldId id="2147483534" r:id="rId9"/>
    <p:sldId id="2147483535" r:id="rId10"/>
    <p:sldId id="2147483536" r:id="rId11"/>
    <p:sldId id="2147483537" r:id="rId12"/>
    <p:sldId id="2147483504" r:id="rId13"/>
    <p:sldId id="2147483505" r:id="rId14"/>
    <p:sldId id="2147483506" r:id="rId15"/>
    <p:sldId id="2147483507" r:id="rId16"/>
    <p:sldId id="2147483532" r:id="rId17"/>
    <p:sldId id="2147483508" r:id="rId18"/>
    <p:sldId id="2147483509" r:id="rId19"/>
    <p:sldId id="2147483510" r:id="rId20"/>
    <p:sldId id="2147483511" r:id="rId21"/>
    <p:sldId id="2147483512" r:id="rId22"/>
    <p:sldId id="2147483513" r:id="rId23"/>
    <p:sldId id="2147483514" r:id="rId24"/>
    <p:sldId id="2147483515" r:id="rId25"/>
    <p:sldId id="2147483516" r:id="rId26"/>
    <p:sldId id="2147483517" r:id="rId27"/>
    <p:sldId id="2147483518" r:id="rId28"/>
    <p:sldId id="2147483533" r:id="rId29"/>
    <p:sldId id="2147483519" r:id="rId30"/>
    <p:sldId id="2147483520" r:id="rId31"/>
    <p:sldId id="2147483521" r:id="rId32"/>
    <p:sldId id="2147483522" r:id="rId33"/>
    <p:sldId id="2147483523" r:id="rId34"/>
    <p:sldId id="2147483524" r:id="rId35"/>
    <p:sldId id="2147483525" r:id="rId36"/>
    <p:sldId id="2147483526" r:id="rId37"/>
    <p:sldId id="2147483527" r:id="rId38"/>
    <p:sldId id="2147483528" r:id="rId39"/>
    <p:sldId id="2147483529" r:id="rId40"/>
    <p:sldId id="2147483530" r:id="rId41"/>
    <p:sldId id="2147483531" r:id="rId42"/>
  </p:sldIdLst>
  <p:sldSz cx="9144000" cy="5143500" type="screen16x9"/>
  <p:notesSz cx="6811963" cy="9942513"/>
  <p:custDataLst>
    <p:tags r:id="rId45"/>
  </p:custDataLst>
  <p:defaultTextStyle>
    <a:defPPr>
      <a:defRPr lang="de-DE"/>
    </a:defPPr>
    <a:lvl1pPr algn="l" defTabSz="957263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1pPr>
    <a:lvl2pPr marL="477838" indent="-20638" algn="l" defTabSz="957263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2pPr>
    <a:lvl3pPr marL="957263" indent="-42863" algn="l" defTabSz="957263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3pPr>
    <a:lvl4pPr marL="1436688" indent="-65088" algn="l" defTabSz="957263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4pPr>
    <a:lvl5pPr marL="1914525" indent="-85725" algn="l" defTabSz="957263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-GIP" id="{12D67FBA-29FD-46B9-8875-3C8A82461B29}">
          <p14:sldIdLst>
            <p14:sldId id="1185"/>
            <p14:sldId id="2147483307"/>
            <p14:sldId id="2147483337"/>
            <p14:sldId id="2147483412"/>
            <p14:sldId id="2147483534"/>
            <p14:sldId id="2147483535"/>
            <p14:sldId id="2147483536"/>
            <p14:sldId id="2147483537"/>
            <p14:sldId id="2147483504"/>
            <p14:sldId id="2147483505"/>
            <p14:sldId id="2147483506"/>
            <p14:sldId id="2147483507"/>
            <p14:sldId id="2147483532"/>
            <p14:sldId id="2147483508"/>
            <p14:sldId id="2147483509"/>
            <p14:sldId id="2147483510"/>
            <p14:sldId id="2147483511"/>
            <p14:sldId id="2147483512"/>
            <p14:sldId id="2147483513"/>
            <p14:sldId id="2147483514"/>
            <p14:sldId id="2147483515"/>
            <p14:sldId id="2147483516"/>
            <p14:sldId id="2147483517"/>
            <p14:sldId id="2147483518"/>
            <p14:sldId id="2147483533"/>
            <p14:sldId id="2147483519"/>
            <p14:sldId id="2147483520"/>
            <p14:sldId id="2147483521"/>
            <p14:sldId id="2147483522"/>
            <p14:sldId id="2147483523"/>
            <p14:sldId id="2147483524"/>
            <p14:sldId id="2147483525"/>
            <p14:sldId id="2147483526"/>
            <p14:sldId id="2147483527"/>
            <p14:sldId id="2147483528"/>
            <p14:sldId id="2147483529"/>
            <p14:sldId id="2147483530"/>
            <p14:sldId id="2147483531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3239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32">
          <p15:clr>
            <a:srgbClr val="A4A3A4"/>
          </p15:clr>
        </p15:guide>
        <p15:guide id="2" pos="2146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FDE1F14-FD5C-2F1D-7CEB-CE15C523A37F}" name="CHERREAU Beatrice (CA-GIP)" initials="C(" userId="S::beatrice.cherreau@ca-gip.fr::bdc17531-8da5-4ae6-9612-84f1c8dec2f8" providerId="AD"/>
  <p188:author id="{DD8B54B3-3D42-08FA-9397-F2C8B1188FF2}" name="DE FARIA DE SOUSA Melodie (CA-GIP)" initials="D(" userId="S::melodie.defariadesousa@ca-gip.fr::adba9ea7-de9b-4c1f-b63f-fc8f015693c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597"/>
    <a:srgbClr val="FFFFFF"/>
    <a:srgbClr val="0E183A"/>
    <a:srgbClr val="008795"/>
    <a:srgbClr val="009999"/>
    <a:srgbClr val="FF9900"/>
    <a:srgbClr val="00CC66"/>
    <a:srgbClr val="01AA7F"/>
    <a:srgbClr val="33CCCC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2CADB5-3DD6-7446-88C0-E42B1E9B3A31}" v="2" dt="2026-02-03T16:16:36.8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63"/>
    <p:restoredTop sz="94681"/>
  </p:normalViewPr>
  <p:slideViewPr>
    <p:cSldViewPr snapToGrid="0">
      <p:cViewPr varScale="1">
        <p:scale>
          <a:sx n="136" d="100"/>
          <a:sy n="136" d="100"/>
        </p:scale>
        <p:origin x="-72" y="-144"/>
      </p:cViewPr>
      <p:guideLst>
        <p:guide orient="horz" pos="3239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32"/>
        <p:guide pos="214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52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NY Franck (CA-GIP)" userId="62e6aa37-4e00-4e02-bed4-d5ebdb30e934" providerId="ADAL" clId="{8B96E338-D25A-5572-A4D1-3F371A1E5623}"/>
    <pc:docChg chg="undo redo custSel addSld delSld modSld sldOrd modSection">
      <pc:chgData name="DIENY Franck (CA-GIP)" userId="62e6aa37-4e00-4e02-bed4-d5ebdb30e934" providerId="ADAL" clId="{8B96E338-D25A-5572-A4D1-3F371A1E5623}" dt="2026-02-04T08:50:49.081" v="2932" actId="1036"/>
      <pc:docMkLst>
        <pc:docMk/>
      </pc:docMkLst>
      <pc:sldChg chg="modSp mod">
        <pc:chgData name="DIENY Franck (CA-GIP)" userId="62e6aa37-4e00-4e02-bed4-d5ebdb30e934" providerId="ADAL" clId="{8B96E338-D25A-5572-A4D1-3F371A1E5623}" dt="2026-02-03T16:15:11.601" v="2922" actId="14734"/>
        <pc:sldMkLst>
          <pc:docMk/>
          <pc:sldMk cId="382485659" sldId="2147483412"/>
        </pc:sldMkLst>
        <pc:graphicFrameChg chg="modGraphic">
          <ac:chgData name="DIENY Franck (CA-GIP)" userId="62e6aa37-4e00-4e02-bed4-d5ebdb30e934" providerId="ADAL" clId="{8B96E338-D25A-5572-A4D1-3F371A1E5623}" dt="2026-02-03T16:15:11.601" v="2922" actId="14734"/>
          <ac:graphicFrameMkLst>
            <pc:docMk/>
            <pc:sldMk cId="382485659" sldId="2147483412"/>
            <ac:graphicFrameMk id="8" creationId="{00000000-0000-0000-0000-000000000000}"/>
          </ac:graphicFrameMkLst>
        </pc:graphicFrameChg>
      </pc:sldChg>
      <pc:sldChg chg="modSp mod">
        <pc:chgData name="DIENY Franck (CA-GIP)" userId="62e6aa37-4e00-4e02-bed4-d5ebdb30e934" providerId="ADAL" clId="{8B96E338-D25A-5572-A4D1-3F371A1E5623}" dt="2026-02-03T16:15:30.723" v="2923" actId="14100"/>
        <pc:sldMkLst>
          <pc:docMk/>
          <pc:sldMk cId="3032461768" sldId="2147483504"/>
        </pc:sldMkLst>
        <pc:spChg chg="mod">
          <ac:chgData name="DIENY Franck (CA-GIP)" userId="62e6aa37-4e00-4e02-bed4-d5ebdb30e934" providerId="ADAL" clId="{8B96E338-D25A-5572-A4D1-3F371A1E5623}" dt="2026-02-03T16:15:30.723" v="2923" actId="14100"/>
          <ac:spMkLst>
            <pc:docMk/>
            <pc:sldMk cId="3032461768" sldId="2147483504"/>
            <ac:spMk id="2" creationId="{00000000-0000-0000-0000-000000000000}"/>
          </ac:spMkLst>
        </pc:spChg>
      </pc:sldChg>
      <pc:sldChg chg="modSp mod">
        <pc:chgData name="DIENY Franck (CA-GIP)" userId="62e6aa37-4e00-4e02-bed4-d5ebdb30e934" providerId="ADAL" clId="{8B96E338-D25A-5572-A4D1-3F371A1E5623}" dt="2026-02-03T16:15:49.441" v="2924" actId="14100"/>
        <pc:sldMkLst>
          <pc:docMk/>
          <pc:sldMk cId="3856187515" sldId="2147483505"/>
        </pc:sldMkLst>
        <pc:spChg chg="mod">
          <ac:chgData name="DIENY Franck (CA-GIP)" userId="62e6aa37-4e00-4e02-bed4-d5ebdb30e934" providerId="ADAL" clId="{8B96E338-D25A-5572-A4D1-3F371A1E5623}" dt="2026-02-03T16:15:49.441" v="2924" actId="14100"/>
          <ac:spMkLst>
            <pc:docMk/>
            <pc:sldMk cId="3856187515" sldId="2147483505"/>
            <ac:spMk id="2" creationId="{00000000-0000-0000-0000-000000000000}"/>
          </ac:spMkLst>
        </pc:spChg>
      </pc:sldChg>
      <pc:sldChg chg="modSp mod">
        <pc:chgData name="DIENY Franck (CA-GIP)" userId="62e6aa37-4e00-4e02-bed4-d5ebdb30e934" providerId="ADAL" clId="{8B96E338-D25A-5572-A4D1-3F371A1E5623}" dt="2026-02-03T16:16:00.151" v="2925" actId="14100"/>
        <pc:sldMkLst>
          <pc:docMk/>
          <pc:sldMk cId="82328220" sldId="2147483506"/>
        </pc:sldMkLst>
        <pc:spChg chg="mod">
          <ac:chgData name="DIENY Franck (CA-GIP)" userId="62e6aa37-4e00-4e02-bed4-d5ebdb30e934" providerId="ADAL" clId="{8B96E338-D25A-5572-A4D1-3F371A1E5623}" dt="2026-02-03T16:16:00.151" v="2925" actId="14100"/>
          <ac:spMkLst>
            <pc:docMk/>
            <pc:sldMk cId="82328220" sldId="2147483506"/>
            <ac:spMk id="2" creationId="{00000000-0000-0000-0000-000000000000}"/>
          </ac:spMkLst>
        </pc:spChg>
      </pc:sldChg>
      <pc:sldChg chg="modSp mod">
        <pc:chgData name="DIENY Franck (CA-GIP)" userId="62e6aa37-4e00-4e02-bed4-d5ebdb30e934" providerId="ADAL" clId="{8B96E338-D25A-5572-A4D1-3F371A1E5623}" dt="2026-02-03T16:16:41.737" v="2928" actId="14100"/>
        <pc:sldMkLst>
          <pc:docMk/>
          <pc:sldMk cId="3837441315" sldId="2147483507"/>
        </pc:sldMkLst>
        <pc:spChg chg="mod">
          <ac:chgData name="DIENY Franck (CA-GIP)" userId="62e6aa37-4e00-4e02-bed4-d5ebdb30e934" providerId="ADAL" clId="{8B96E338-D25A-5572-A4D1-3F371A1E5623}" dt="2026-02-03T16:16:41.737" v="2928" actId="14100"/>
          <ac:spMkLst>
            <pc:docMk/>
            <pc:sldMk cId="3837441315" sldId="2147483507"/>
            <ac:spMk id="2" creationId="{00000000-0000-0000-0000-000000000000}"/>
          </ac:spMkLst>
        </pc:spChg>
        <pc:picChg chg="mod">
          <ac:chgData name="DIENY Franck (CA-GIP)" userId="62e6aa37-4e00-4e02-bed4-d5ebdb30e934" providerId="ADAL" clId="{8B96E338-D25A-5572-A4D1-3F371A1E5623}" dt="2026-02-03T16:16:36.849" v="2927" actId="14100"/>
          <ac:picMkLst>
            <pc:docMk/>
            <pc:sldMk cId="3837441315" sldId="2147483507"/>
            <ac:picMk id="40962" creationId="{00000000-0000-0000-0000-000000000000}"/>
          </ac:picMkLst>
        </pc:picChg>
      </pc:sldChg>
      <pc:sldChg chg="modSp mod">
        <pc:chgData name="DIENY Franck (CA-GIP)" userId="62e6aa37-4e00-4e02-bed4-d5ebdb30e934" providerId="ADAL" clId="{8B96E338-D25A-5572-A4D1-3F371A1E5623}" dt="2026-02-04T08:50:49.081" v="2932" actId="1036"/>
        <pc:sldMkLst>
          <pc:docMk/>
          <pc:sldMk cId="4175982873" sldId="2147483508"/>
        </pc:sldMkLst>
        <pc:spChg chg="mod">
          <ac:chgData name="DIENY Franck (CA-GIP)" userId="62e6aa37-4e00-4e02-bed4-d5ebdb30e934" providerId="ADAL" clId="{8B96E338-D25A-5572-A4D1-3F371A1E5623}" dt="2026-02-04T08:50:49.081" v="2932" actId="1036"/>
          <ac:spMkLst>
            <pc:docMk/>
            <pc:sldMk cId="4175982873" sldId="2147483508"/>
            <ac:spMk id="2" creationId="{00000000-0000-0000-0000-000000000000}"/>
          </ac:spMkLst>
        </pc:spChg>
      </pc:sldChg>
      <pc:sldChg chg="modSp mod">
        <pc:chgData name="DIENY Franck (CA-GIP)" userId="62e6aa37-4e00-4e02-bed4-d5ebdb30e934" providerId="ADAL" clId="{8B96E338-D25A-5572-A4D1-3F371A1E5623}" dt="2026-02-03T16:18:22.427" v="2930" actId="115"/>
        <pc:sldMkLst>
          <pc:docMk/>
          <pc:sldMk cId="3468660499" sldId="2147483517"/>
        </pc:sldMkLst>
        <pc:spChg chg="mod">
          <ac:chgData name="DIENY Franck (CA-GIP)" userId="62e6aa37-4e00-4e02-bed4-d5ebdb30e934" providerId="ADAL" clId="{8B96E338-D25A-5572-A4D1-3F371A1E5623}" dt="2026-02-03T16:18:22.427" v="2930" actId="115"/>
          <ac:spMkLst>
            <pc:docMk/>
            <pc:sldMk cId="3468660499" sldId="2147483517"/>
            <ac:spMk id="3" creationId="{00000000-0000-0000-0000-000000000000}"/>
          </ac:spMkLst>
        </pc:spChg>
      </pc:sldChg>
      <pc:sldChg chg="modSp mod">
        <pc:chgData name="DIENY Franck (CA-GIP)" userId="62e6aa37-4e00-4e02-bed4-d5ebdb30e934" providerId="ADAL" clId="{8B96E338-D25A-5572-A4D1-3F371A1E5623}" dt="2026-02-03T16:17:04.370" v="2929" actId="14100"/>
        <pc:sldMkLst>
          <pc:docMk/>
          <pc:sldMk cId="2264686167" sldId="2147483532"/>
        </pc:sldMkLst>
        <pc:spChg chg="mod">
          <ac:chgData name="DIENY Franck (CA-GIP)" userId="62e6aa37-4e00-4e02-bed4-d5ebdb30e934" providerId="ADAL" clId="{8B96E338-D25A-5572-A4D1-3F371A1E5623}" dt="2026-02-03T16:17:04.370" v="2929" actId="14100"/>
          <ac:spMkLst>
            <pc:docMk/>
            <pc:sldMk cId="2264686167" sldId="2147483532"/>
            <ac:spMk id="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82D252-5123-4925-83AD-35A1A1546E2E}" type="doc">
      <dgm:prSet loTypeId="urn:microsoft.com/office/officeart/2005/8/layout/hChevron3" loCatId="process" qsTypeId="urn:microsoft.com/office/officeart/2005/8/quickstyle/simple1" qsCatId="simple" csTypeId="urn:microsoft.com/office/officeart/2005/8/colors/accent1_4" csCatId="accent1" phldr="1"/>
      <dgm:spPr/>
    </dgm:pt>
    <dgm:pt modelId="{19F83FC7-C565-4B6D-915E-42DAC9F337CC}">
      <dgm:prSet phldrT="[Texte]"/>
      <dgm:spPr/>
      <dgm:t>
        <a:bodyPr anchor="ctr" anchorCtr="0"/>
        <a:lstStyle/>
        <a:p>
          <a:r>
            <a:rPr lang="fr-FR">
              <a:solidFill>
                <a:schemeClr val="tx1"/>
              </a:solidFill>
            </a:rPr>
            <a:t>Plan</a:t>
          </a:r>
          <a:endParaRPr lang="fr-FR" dirty="0">
            <a:solidFill>
              <a:schemeClr val="tx1"/>
            </a:solidFill>
          </a:endParaRPr>
        </a:p>
      </dgm:t>
    </dgm:pt>
    <dgm:pt modelId="{25CFA69D-6F21-4262-B5C7-1893A0473507}" type="parTrans" cxnId="{B8D51EC3-98ED-44CF-B3F0-60E6370A680C}">
      <dgm:prSet/>
      <dgm:spPr/>
      <dgm:t>
        <a:bodyPr/>
        <a:lstStyle/>
        <a:p>
          <a:endParaRPr lang="fr-FR"/>
        </a:p>
      </dgm:t>
    </dgm:pt>
    <dgm:pt modelId="{A3C047F3-9CBC-4328-B937-0C0B70FEEC77}" type="sibTrans" cxnId="{B8D51EC3-98ED-44CF-B3F0-60E6370A680C}">
      <dgm:prSet/>
      <dgm:spPr/>
      <dgm:t>
        <a:bodyPr/>
        <a:lstStyle/>
        <a:p>
          <a:endParaRPr lang="fr-FR"/>
        </a:p>
      </dgm:t>
    </dgm:pt>
    <dgm:pt modelId="{E036D384-8DF2-4ADF-BC53-77017B40014C}">
      <dgm:prSet/>
      <dgm:spPr/>
      <dgm:t>
        <a:bodyPr anchor="ctr" anchorCtr="0"/>
        <a:lstStyle/>
        <a:p>
          <a:r>
            <a:rPr lang="fr-FR" dirty="0">
              <a:solidFill>
                <a:schemeClr val="tx1"/>
              </a:solidFill>
            </a:rPr>
            <a:t> </a:t>
          </a:r>
          <a:r>
            <a:rPr lang="fr-FR" dirty="0" err="1">
              <a:solidFill>
                <a:schemeClr val="tx1"/>
              </a:solidFill>
            </a:rPr>
            <a:t>Threat</a:t>
          </a:r>
          <a:r>
            <a:rPr lang="fr-FR" dirty="0">
              <a:solidFill>
                <a:schemeClr val="tx1"/>
              </a:solidFill>
            </a:rPr>
            <a:t> modeling</a:t>
          </a:r>
        </a:p>
      </dgm:t>
    </dgm:pt>
    <dgm:pt modelId="{24095DF3-4D41-4295-BFCC-2503967005D6}" type="parTrans" cxnId="{C80007A1-B694-4EBF-8064-AFD7133E99A1}">
      <dgm:prSet/>
      <dgm:spPr/>
      <dgm:t>
        <a:bodyPr/>
        <a:lstStyle/>
        <a:p>
          <a:endParaRPr lang="fr-FR"/>
        </a:p>
      </dgm:t>
    </dgm:pt>
    <dgm:pt modelId="{C7A9EE95-01ED-460E-91E8-61A1C6E0798A}" type="sibTrans" cxnId="{C80007A1-B694-4EBF-8064-AFD7133E99A1}">
      <dgm:prSet/>
      <dgm:spPr/>
      <dgm:t>
        <a:bodyPr/>
        <a:lstStyle/>
        <a:p>
          <a:endParaRPr lang="fr-FR"/>
        </a:p>
      </dgm:t>
    </dgm:pt>
    <dgm:pt modelId="{D139AB07-2FBC-428A-B189-5EA81594EC79}">
      <dgm:prSet/>
      <dgm:spPr/>
      <dgm:t>
        <a:bodyPr anchor="ctr" anchorCtr="0"/>
        <a:lstStyle/>
        <a:p>
          <a:r>
            <a:rPr lang="fr-FR" dirty="0">
              <a:solidFill>
                <a:schemeClr val="tx1"/>
              </a:solidFill>
            </a:rPr>
            <a:t>Code</a:t>
          </a:r>
        </a:p>
      </dgm:t>
    </dgm:pt>
    <dgm:pt modelId="{C6BE802F-8BC0-44D8-8739-6B5AC6FAD61A}" type="parTrans" cxnId="{B188AFAB-B76B-4985-8F00-BC76FE867206}">
      <dgm:prSet/>
      <dgm:spPr/>
      <dgm:t>
        <a:bodyPr/>
        <a:lstStyle/>
        <a:p>
          <a:endParaRPr lang="fr-FR"/>
        </a:p>
      </dgm:t>
    </dgm:pt>
    <dgm:pt modelId="{260679FE-2D0D-42FC-B17F-793976EF0087}" type="sibTrans" cxnId="{B188AFAB-B76B-4985-8F00-BC76FE867206}">
      <dgm:prSet/>
      <dgm:spPr/>
      <dgm:t>
        <a:bodyPr/>
        <a:lstStyle/>
        <a:p>
          <a:endParaRPr lang="fr-FR"/>
        </a:p>
      </dgm:t>
    </dgm:pt>
    <dgm:pt modelId="{661F96D3-DF23-4D61-AD46-206AF31DDB67}">
      <dgm:prSet/>
      <dgm:spPr/>
      <dgm:t>
        <a:bodyPr anchor="ctr" anchorCtr="0"/>
        <a:lstStyle/>
        <a:p>
          <a:r>
            <a:rPr lang="fr-FR" dirty="0">
              <a:solidFill>
                <a:schemeClr val="tx1"/>
              </a:solidFill>
            </a:rPr>
            <a:t> SAST, bonnes pratiques</a:t>
          </a:r>
        </a:p>
      </dgm:t>
    </dgm:pt>
    <dgm:pt modelId="{2C84215F-578D-4AAE-B84F-CD650739BDFD}" type="parTrans" cxnId="{5E58D07E-8192-43B1-AC03-66CEB189BC49}">
      <dgm:prSet/>
      <dgm:spPr/>
      <dgm:t>
        <a:bodyPr/>
        <a:lstStyle/>
        <a:p>
          <a:endParaRPr lang="fr-FR"/>
        </a:p>
      </dgm:t>
    </dgm:pt>
    <dgm:pt modelId="{B26DB591-EA0C-4420-B069-D57AAF2DAF28}" type="sibTrans" cxnId="{5E58D07E-8192-43B1-AC03-66CEB189BC49}">
      <dgm:prSet/>
      <dgm:spPr/>
      <dgm:t>
        <a:bodyPr/>
        <a:lstStyle/>
        <a:p>
          <a:endParaRPr lang="fr-FR"/>
        </a:p>
      </dgm:t>
    </dgm:pt>
    <dgm:pt modelId="{CD20097B-F973-42AC-BC4D-8743D3C0D63F}">
      <dgm:prSet/>
      <dgm:spPr/>
      <dgm:t>
        <a:bodyPr anchor="ctr" anchorCtr="0"/>
        <a:lstStyle/>
        <a:p>
          <a:r>
            <a:rPr lang="fr-FR" dirty="0">
              <a:solidFill>
                <a:schemeClr val="tx1"/>
              </a:solidFill>
            </a:rPr>
            <a:t>Build</a:t>
          </a:r>
        </a:p>
      </dgm:t>
    </dgm:pt>
    <dgm:pt modelId="{FB04387D-7280-4637-858B-8C1E85B047F7}" type="parTrans" cxnId="{4157D682-E739-40DF-855B-E72E5FD51836}">
      <dgm:prSet/>
      <dgm:spPr/>
      <dgm:t>
        <a:bodyPr/>
        <a:lstStyle/>
        <a:p>
          <a:endParaRPr lang="fr-FR"/>
        </a:p>
      </dgm:t>
    </dgm:pt>
    <dgm:pt modelId="{531CF22D-EC8A-4A8A-9A41-98CE36BF6580}" type="sibTrans" cxnId="{4157D682-E739-40DF-855B-E72E5FD51836}">
      <dgm:prSet/>
      <dgm:spPr/>
      <dgm:t>
        <a:bodyPr/>
        <a:lstStyle/>
        <a:p>
          <a:endParaRPr lang="fr-FR"/>
        </a:p>
      </dgm:t>
    </dgm:pt>
    <dgm:pt modelId="{42FA3884-E2E0-4F86-8EC5-C2FE941D2659}">
      <dgm:prSet/>
      <dgm:spPr/>
      <dgm:t>
        <a:bodyPr anchor="ctr" anchorCtr="0"/>
        <a:lstStyle/>
        <a:p>
          <a:r>
            <a:rPr lang="fr-FR" dirty="0">
              <a:solidFill>
                <a:schemeClr val="tx1"/>
              </a:solidFill>
            </a:rPr>
            <a:t> SCA, scans dépendances</a:t>
          </a:r>
        </a:p>
      </dgm:t>
    </dgm:pt>
    <dgm:pt modelId="{BD13CB32-235A-4688-8289-324FEC159082}" type="parTrans" cxnId="{15896A09-9C60-4BF6-B108-B62ED730A6FA}">
      <dgm:prSet/>
      <dgm:spPr/>
      <dgm:t>
        <a:bodyPr/>
        <a:lstStyle/>
        <a:p>
          <a:endParaRPr lang="fr-FR"/>
        </a:p>
      </dgm:t>
    </dgm:pt>
    <dgm:pt modelId="{6E2D3C66-588A-4781-A5B7-124400FECC2A}" type="sibTrans" cxnId="{15896A09-9C60-4BF6-B108-B62ED730A6FA}">
      <dgm:prSet/>
      <dgm:spPr/>
      <dgm:t>
        <a:bodyPr/>
        <a:lstStyle/>
        <a:p>
          <a:endParaRPr lang="fr-FR"/>
        </a:p>
      </dgm:t>
    </dgm:pt>
    <dgm:pt modelId="{7DCF3315-613D-4369-87D1-A0480886378C}">
      <dgm:prSet/>
      <dgm:spPr/>
      <dgm:t>
        <a:bodyPr anchor="ctr" anchorCtr="0"/>
        <a:lstStyle/>
        <a:p>
          <a:r>
            <a:rPr lang="fr-FR" dirty="0">
              <a:solidFill>
                <a:schemeClr val="tx1"/>
              </a:solidFill>
            </a:rPr>
            <a:t>Package</a:t>
          </a:r>
        </a:p>
      </dgm:t>
    </dgm:pt>
    <dgm:pt modelId="{915EAE1B-6A99-4474-8CD6-1115B43D22B6}" type="parTrans" cxnId="{0B05D311-9787-4650-AE21-B0D99B3757DC}">
      <dgm:prSet/>
      <dgm:spPr/>
      <dgm:t>
        <a:bodyPr/>
        <a:lstStyle/>
        <a:p>
          <a:endParaRPr lang="fr-FR"/>
        </a:p>
      </dgm:t>
    </dgm:pt>
    <dgm:pt modelId="{D5BA8B21-C809-4D84-961A-82F169908605}" type="sibTrans" cxnId="{0B05D311-9787-4650-AE21-B0D99B3757DC}">
      <dgm:prSet/>
      <dgm:spPr/>
      <dgm:t>
        <a:bodyPr/>
        <a:lstStyle/>
        <a:p>
          <a:endParaRPr lang="fr-FR"/>
        </a:p>
      </dgm:t>
    </dgm:pt>
    <dgm:pt modelId="{9DB163F7-196B-41A2-B1BC-4262BE9DACC4}">
      <dgm:prSet/>
      <dgm:spPr/>
      <dgm:t>
        <a:bodyPr anchor="ctr" anchorCtr="0"/>
        <a:lstStyle/>
        <a:p>
          <a:r>
            <a:rPr lang="fr-FR" dirty="0">
              <a:solidFill>
                <a:schemeClr val="tx1"/>
              </a:solidFill>
            </a:rPr>
            <a:t> Artefact signé + SBOM</a:t>
          </a:r>
        </a:p>
      </dgm:t>
    </dgm:pt>
    <dgm:pt modelId="{E6E03694-AECD-43B9-9DFB-FE3ABF1E5E62}" type="parTrans" cxnId="{CB24D7EC-2CE0-4F83-AE33-9DCF8451D6BD}">
      <dgm:prSet/>
      <dgm:spPr/>
      <dgm:t>
        <a:bodyPr/>
        <a:lstStyle/>
        <a:p>
          <a:endParaRPr lang="fr-FR"/>
        </a:p>
      </dgm:t>
    </dgm:pt>
    <dgm:pt modelId="{99C70BD0-7ED6-4167-B5A5-4AFD4F93F7DA}" type="sibTrans" cxnId="{CB24D7EC-2CE0-4F83-AE33-9DCF8451D6BD}">
      <dgm:prSet/>
      <dgm:spPr/>
      <dgm:t>
        <a:bodyPr/>
        <a:lstStyle/>
        <a:p>
          <a:endParaRPr lang="fr-FR"/>
        </a:p>
      </dgm:t>
    </dgm:pt>
    <dgm:pt modelId="{7C1A20FF-F3E2-4D2A-A939-2DC8462885D2}">
      <dgm:prSet/>
      <dgm:spPr/>
      <dgm:t>
        <a:bodyPr anchor="ctr" anchorCtr="0"/>
        <a:lstStyle/>
        <a:p>
          <a:r>
            <a:rPr lang="fr-FR" dirty="0">
              <a:solidFill>
                <a:schemeClr val="tx1"/>
              </a:solidFill>
            </a:rPr>
            <a:t>Deploy</a:t>
          </a:r>
        </a:p>
      </dgm:t>
    </dgm:pt>
    <dgm:pt modelId="{5D27622C-04F0-4735-B0FB-96686ECF068A}" type="parTrans" cxnId="{9D24158A-3344-4170-9F39-4356242092F1}">
      <dgm:prSet/>
      <dgm:spPr/>
      <dgm:t>
        <a:bodyPr/>
        <a:lstStyle/>
        <a:p>
          <a:endParaRPr lang="fr-FR"/>
        </a:p>
      </dgm:t>
    </dgm:pt>
    <dgm:pt modelId="{C322A161-29DB-403B-8711-A35CFBF33336}" type="sibTrans" cxnId="{9D24158A-3344-4170-9F39-4356242092F1}">
      <dgm:prSet/>
      <dgm:spPr/>
      <dgm:t>
        <a:bodyPr/>
        <a:lstStyle/>
        <a:p>
          <a:endParaRPr lang="fr-FR"/>
        </a:p>
      </dgm:t>
    </dgm:pt>
    <dgm:pt modelId="{241933BF-28D8-4615-AA14-56F686206755}">
      <dgm:prSet/>
      <dgm:spPr/>
      <dgm:t>
        <a:bodyPr anchor="ctr" anchorCtr="0"/>
        <a:lstStyle/>
        <a:p>
          <a:r>
            <a:rPr lang="fr-FR" dirty="0">
              <a:solidFill>
                <a:schemeClr val="tx1"/>
              </a:solidFill>
            </a:rPr>
            <a:t> </a:t>
          </a:r>
          <a:r>
            <a:rPr lang="fr-FR" dirty="0" err="1">
              <a:solidFill>
                <a:schemeClr val="tx1"/>
              </a:solidFill>
            </a:rPr>
            <a:t>GitOps</a:t>
          </a:r>
          <a:r>
            <a:rPr lang="fr-FR" dirty="0">
              <a:solidFill>
                <a:schemeClr val="tx1"/>
              </a:solidFill>
            </a:rPr>
            <a:t> + Policy as Code</a:t>
          </a:r>
        </a:p>
      </dgm:t>
    </dgm:pt>
    <dgm:pt modelId="{0A879553-7183-46C8-8C3F-ACECC942533C}" type="parTrans" cxnId="{F2D1AF6E-F836-4155-8240-7B68BE0D89DA}">
      <dgm:prSet/>
      <dgm:spPr/>
      <dgm:t>
        <a:bodyPr/>
        <a:lstStyle/>
        <a:p>
          <a:endParaRPr lang="fr-FR"/>
        </a:p>
      </dgm:t>
    </dgm:pt>
    <dgm:pt modelId="{EBFCCC8F-76AA-4574-B2B6-112FCA535276}" type="sibTrans" cxnId="{F2D1AF6E-F836-4155-8240-7B68BE0D89DA}">
      <dgm:prSet/>
      <dgm:spPr/>
      <dgm:t>
        <a:bodyPr/>
        <a:lstStyle/>
        <a:p>
          <a:endParaRPr lang="fr-FR"/>
        </a:p>
      </dgm:t>
    </dgm:pt>
    <dgm:pt modelId="{FD36EB10-1DAD-4C94-AE1E-95F7D0ABF85E}">
      <dgm:prSet/>
      <dgm:spPr/>
      <dgm:t>
        <a:bodyPr anchor="ctr" anchorCtr="0"/>
        <a:lstStyle/>
        <a:p>
          <a:r>
            <a:rPr lang="fr-FR" dirty="0">
              <a:solidFill>
                <a:schemeClr val="tx1"/>
              </a:solidFill>
            </a:rPr>
            <a:t>Run</a:t>
          </a:r>
        </a:p>
      </dgm:t>
    </dgm:pt>
    <dgm:pt modelId="{20D6C4FA-0D2B-46A8-8A7E-BCD3BFF9FE78}" type="parTrans" cxnId="{FC44A35B-55C4-461D-8136-55EEA72C4DC8}">
      <dgm:prSet/>
      <dgm:spPr/>
      <dgm:t>
        <a:bodyPr/>
        <a:lstStyle/>
        <a:p>
          <a:endParaRPr lang="fr-FR"/>
        </a:p>
      </dgm:t>
    </dgm:pt>
    <dgm:pt modelId="{3E3E2FA0-F481-4186-A00F-73C239A4E228}" type="sibTrans" cxnId="{FC44A35B-55C4-461D-8136-55EEA72C4DC8}">
      <dgm:prSet/>
      <dgm:spPr/>
      <dgm:t>
        <a:bodyPr/>
        <a:lstStyle/>
        <a:p>
          <a:endParaRPr lang="fr-FR"/>
        </a:p>
      </dgm:t>
    </dgm:pt>
    <dgm:pt modelId="{E5945E66-384E-408A-8937-7259E15835AD}">
      <dgm:prSet/>
      <dgm:spPr/>
      <dgm:t>
        <a:bodyPr anchor="ctr" anchorCtr="0"/>
        <a:lstStyle/>
        <a:p>
          <a:r>
            <a:rPr lang="fr-FR" dirty="0">
              <a:solidFill>
                <a:schemeClr val="tx1"/>
              </a:solidFill>
            </a:rPr>
            <a:t> Sécurité runtime</a:t>
          </a:r>
        </a:p>
      </dgm:t>
    </dgm:pt>
    <dgm:pt modelId="{2E420813-1165-42C9-ACF7-65A35E5754D8}" type="parTrans" cxnId="{F53E37CE-282F-43DC-AA54-2B62FCC61C46}">
      <dgm:prSet/>
      <dgm:spPr/>
      <dgm:t>
        <a:bodyPr/>
        <a:lstStyle/>
        <a:p>
          <a:endParaRPr lang="fr-FR"/>
        </a:p>
      </dgm:t>
    </dgm:pt>
    <dgm:pt modelId="{6262829E-4AAE-4798-B74F-2EBAAF32A4CA}" type="sibTrans" cxnId="{F53E37CE-282F-43DC-AA54-2B62FCC61C46}">
      <dgm:prSet/>
      <dgm:spPr/>
      <dgm:t>
        <a:bodyPr/>
        <a:lstStyle/>
        <a:p>
          <a:endParaRPr lang="fr-FR"/>
        </a:p>
      </dgm:t>
    </dgm:pt>
    <dgm:pt modelId="{83B9EEA0-47B6-46AD-BCF3-5EA4B3D4F70B}">
      <dgm:prSet/>
      <dgm:spPr/>
      <dgm:t>
        <a:bodyPr anchor="ctr" anchorCtr="0"/>
        <a:lstStyle/>
        <a:p>
          <a:r>
            <a:rPr lang="fr-FR" dirty="0">
              <a:solidFill>
                <a:schemeClr val="tx1"/>
              </a:solidFill>
            </a:rPr>
            <a:t>Observe</a:t>
          </a:r>
        </a:p>
      </dgm:t>
    </dgm:pt>
    <dgm:pt modelId="{A3DEEFB8-FBF4-4D16-98C2-1F9891093000}" type="parTrans" cxnId="{4DE1C42F-56AD-4891-A0FD-E022210EA409}">
      <dgm:prSet/>
      <dgm:spPr/>
      <dgm:t>
        <a:bodyPr/>
        <a:lstStyle/>
        <a:p>
          <a:endParaRPr lang="fr-FR"/>
        </a:p>
      </dgm:t>
    </dgm:pt>
    <dgm:pt modelId="{57AF849F-02A5-4951-B8F8-35C3C2C14EB4}" type="sibTrans" cxnId="{4DE1C42F-56AD-4891-A0FD-E022210EA409}">
      <dgm:prSet/>
      <dgm:spPr/>
      <dgm:t>
        <a:bodyPr/>
        <a:lstStyle/>
        <a:p>
          <a:endParaRPr lang="fr-FR"/>
        </a:p>
      </dgm:t>
    </dgm:pt>
    <dgm:pt modelId="{0B4F87ED-0803-4D4A-A0A1-FE23C420C988}">
      <dgm:prSet/>
      <dgm:spPr/>
      <dgm:t>
        <a:bodyPr anchor="ctr" anchorCtr="0"/>
        <a:lstStyle/>
        <a:p>
          <a:r>
            <a:rPr lang="fr-FR" dirty="0">
              <a:solidFill>
                <a:schemeClr val="tx1"/>
              </a:solidFill>
            </a:rPr>
            <a:t> Observabilité + SIEM</a:t>
          </a:r>
        </a:p>
      </dgm:t>
    </dgm:pt>
    <dgm:pt modelId="{167DACC8-6F0B-48DF-B559-13ABDD3B7720}" type="parTrans" cxnId="{E05A857A-F540-45FF-A93A-7E7F091DF9AB}">
      <dgm:prSet/>
      <dgm:spPr/>
      <dgm:t>
        <a:bodyPr/>
        <a:lstStyle/>
        <a:p>
          <a:endParaRPr lang="fr-FR"/>
        </a:p>
      </dgm:t>
    </dgm:pt>
    <dgm:pt modelId="{20D44B64-3D15-464F-A08D-45A927CE2199}" type="sibTrans" cxnId="{E05A857A-F540-45FF-A93A-7E7F091DF9AB}">
      <dgm:prSet/>
      <dgm:spPr/>
      <dgm:t>
        <a:bodyPr/>
        <a:lstStyle/>
        <a:p>
          <a:endParaRPr lang="fr-FR"/>
        </a:p>
      </dgm:t>
    </dgm:pt>
    <dgm:pt modelId="{ED4170B3-097C-4B7B-99F7-1206B3C157FD}" type="pres">
      <dgm:prSet presAssocID="{4C82D252-5123-4925-83AD-35A1A1546E2E}" presName="Name0" presStyleCnt="0">
        <dgm:presLayoutVars>
          <dgm:dir/>
          <dgm:resizeHandles val="exact"/>
        </dgm:presLayoutVars>
      </dgm:prSet>
      <dgm:spPr/>
    </dgm:pt>
    <dgm:pt modelId="{CDF9DC37-BE55-4471-A21F-51C4E7C487ED}" type="pres">
      <dgm:prSet presAssocID="{19F83FC7-C565-4B6D-915E-42DAC9F337CC}" presName="parAndChTx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A730F95-A118-4AA2-8101-D4EB560A6A8F}" type="pres">
      <dgm:prSet presAssocID="{A3C047F3-9CBC-4328-B937-0C0B70FEEC77}" presName="parAndChSpace" presStyleCnt="0"/>
      <dgm:spPr/>
    </dgm:pt>
    <dgm:pt modelId="{68069263-8E20-4F93-B4F5-0AE39ED6BCB6}" type="pres">
      <dgm:prSet presAssocID="{D139AB07-2FBC-428A-B189-5EA81594EC79}" presName="parAndChTx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4E7630B-A6E0-4B44-8EAC-BD6E564A4B29}" type="pres">
      <dgm:prSet presAssocID="{260679FE-2D0D-42FC-B17F-793976EF0087}" presName="parAndChSpace" presStyleCnt="0"/>
      <dgm:spPr/>
    </dgm:pt>
    <dgm:pt modelId="{7013247B-5121-4CBD-ADC3-C575719F9B20}" type="pres">
      <dgm:prSet presAssocID="{CD20097B-F973-42AC-BC4D-8743D3C0D63F}" presName="parAndChTx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1B1DE57-80E1-461A-B1F3-AE508FF20AC1}" type="pres">
      <dgm:prSet presAssocID="{531CF22D-EC8A-4A8A-9A41-98CE36BF6580}" presName="parAndChSpace" presStyleCnt="0"/>
      <dgm:spPr/>
    </dgm:pt>
    <dgm:pt modelId="{57E44B25-191B-4CCA-92DB-8EFE15C767A4}" type="pres">
      <dgm:prSet presAssocID="{7DCF3315-613D-4369-87D1-A0480886378C}" presName="parAndChTx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1D29A47-08E7-45ED-831A-06552C85BA07}" type="pres">
      <dgm:prSet presAssocID="{D5BA8B21-C809-4D84-961A-82F169908605}" presName="parAndChSpace" presStyleCnt="0"/>
      <dgm:spPr/>
    </dgm:pt>
    <dgm:pt modelId="{FB42B01D-AAE2-43C6-A4BC-36096CAA0412}" type="pres">
      <dgm:prSet presAssocID="{7C1A20FF-F3E2-4D2A-A939-2DC8462885D2}" presName="parAndChTx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2027F4C-433B-4BEA-B242-461ADF392979}" type="pres">
      <dgm:prSet presAssocID="{C322A161-29DB-403B-8711-A35CFBF33336}" presName="parAndChSpace" presStyleCnt="0"/>
      <dgm:spPr/>
    </dgm:pt>
    <dgm:pt modelId="{31C24C80-2CAF-4E66-8B6D-1072B96959E9}" type="pres">
      <dgm:prSet presAssocID="{FD36EB10-1DAD-4C94-AE1E-95F7D0ABF85E}" presName="parAndChTx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E7355FB-33D1-4EB6-8669-7EC87E82FF77}" type="pres">
      <dgm:prSet presAssocID="{3E3E2FA0-F481-4186-A00F-73C239A4E228}" presName="parAndChSpace" presStyleCnt="0"/>
      <dgm:spPr/>
    </dgm:pt>
    <dgm:pt modelId="{098B48CB-F04D-4826-910B-192184DCF101}" type="pres">
      <dgm:prSet presAssocID="{83B9EEA0-47B6-46AD-BCF3-5EA4B3D4F70B}" presName="parAndChTx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0B05D311-9787-4650-AE21-B0D99B3757DC}" srcId="{4C82D252-5123-4925-83AD-35A1A1546E2E}" destId="{7DCF3315-613D-4369-87D1-A0480886378C}" srcOrd="3" destOrd="0" parTransId="{915EAE1B-6A99-4474-8CD6-1115B43D22B6}" sibTransId="{D5BA8B21-C809-4D84-961A-82F169908605}"/>
    <dgm:cxn modelId="{CB24D7EC-2CE0-4F83-AE33-9DCF8451D6BD}" srcId="{7DCF3315-613D-4369-87D1-A0480886378C}" destId="{9DB163F7-196B-41A2-B1BC-4262BE9DACC4}" srcOrd="0" destOrd="0" parTransId="{E6E03694-AECD-43B9-9DFB-FE3ABF1E5E62}" sibTransId="{99C70BD0-7ED6-4167-B5A5-4AFD4F93F7DA}"/>
    <dgm:cxn modelId="{4157D682-E739-40DF-855B-E72E5FD51836}" srcId="{4C82D252-5123-4925-83AD-35A1A1546E2E}" destId="{CD20097B-F973-42AC-BC4D-8743D3C0D63F}" srcOrd="2" destOrd="0" parTransId="{FB04387D-7280-4637-858B-8C1E85B047F7}" sibTransId="{531CF22D-EC8A-4A8A-9A41-98CE36BF6580}"/>
    <dgm:cxn modelId="{04028A84-EB43-4C7C-BB8B-17E1ECAFD360}" type="presOf" srcId="{7DCF3315-613D-4369-87D1-A0480886378C}" destId="{57E44B25-191B-4CCA-92DB-8EFE15C767A4}" srcOrd="0" destOrd="0" presId="urn:microsoft.com/office/officeart/2005/8/layout/hChevron3"/>
    <dgm:cxn modelId="{15896A09-9C60-4BF6-B108-B62ED730A6FA}" srcId="{CD20097B-F973-42AC-BC4D-8743D3C0D63F}" destId="{42FA3884-E2E0-4F86-8EC5-C2FE941D2659}" srcOrd="0" destOrd="0" parTransId="{BD13CB32-235A-4688-8289-324FEC159082}" sibTransId="{6E2D3C66-588A-4781-A5B7-124400FECC2A}"/>
    <dgm:cxn modelId="{C80007A1-B694-4EBF-8064-AFD7133E99A1}" srcId="{19F83FC7-C565-4B6D-915E-42DAC9F337CC}" destId="{E036D384-8DF2-4ADF-BC53-77017B40014C}" srcOrd="0" destOrd="0" parTransId="{24095DF3-4D41-4295-BFCC-2503967005D6}" sibTransId="{C7A9EE95-01ED-460E-91E8-61A1C6E0798A}"/>
    <dgm:cxn modelId="{6073B727-26CC-4047-B597-7A7C3CE95E53}" type="presOf" srcId="{0B4F87ED-0803-4D4A-A0A1-FE23C420C988}" destId="{098B48CB-F04D-4826-910B-192184DCF101}" srcOrd="0" destOrd="1" presId="urn:microsoft.com/office/officeart/2005/8/layout/hChevron3"/>
    <dgm:cxn modelId="{265D0EE5-5045-4546-8826-405C97955305}" type="presOf" srcId="{661F96D3-DF23-4D61-AD46-206AF31DDB67}" destId="{68069263-8E20-4F93-B4F5-0AE39ED6BCB6}" srcOrd="0" destOrd="1" presId="urn:microsoft.com/office/officeart/2005/8/layout/hChevron3"/>
    <dgm:cxn modelId="{E05A857A-F540-45FF-A93A-7E7F091DF9AB}" srcId="{83B9EEA0-47B6-46AD-BCF3-5EA4B3D4F70B}" destId="{0B4F87ED-0803-4D4A-A0A1-FE23C420C988}" srcOrd="0" destOrd="0" parTransId="{167DACC8-6F0B-48DF-B559-13ABDD3B7720}" sibTransId="{20D44B64-3D15-464F-A08D-45A927CE2199}"/>
    <dgm:cxn modelId="{9D24158A-3344-4170-9F39-4356242092F1}" srcId="{4C82D252-5123-4925-83AD-35A1A1546E2E}" destId="{7C1A20FF-F3E2-4D2A-A939-2DC8462885D2}" srcOrd="4" destOrd="0" parTransId="{5D27622C-04F0-4735-B0FB-96686ECF068A}" sibTransId="{C322A161-29DB-403B-8711-A35CFBF33336}"/>
    <dgm:cxn modelId="{F53E37CE-282F-43DC-AA54-2B62FCC61C46}" srcId="{FD36EB10-1DAD-4C94-AE1E-95F7D0ABF85E}" destId="{E5945E66-384E-408A-8937-7259E15835AD}" srcOrd="0" destOrd="0" parTransId="{2E420813-1165-42C9-ACF7-65A35E5754D8}" sibTransId="{6262829E-4AAE-4798-B74F-2EBAAF32A4CA}"/>
    <dgm:cxn modelId="{4C5ABA26-7FE2-4C2F-88A3-4D5EF9A66DA0}" type="presOf" srcId="{4C82D252-5123-4925-83AD-35A1A1546E2E}" destId="{ED4170B3-097C-4B7B-99F7-1206B3C157FD}" srcOrd="0" destOrd="0" presId="urn:microsoft.com/office/officeart/2005/8/layout/hChevron3"/>
    <dgm:cxn modelId="{88012DF8-A516-44AD-82F0-AB01B40D8CF3}" type="presOf" srcId="{CD20097B-F973-42AC-BC4D-8743D3C0D63F}" destId="{7013247B-5121-4CBD-ADC3-C575719F9B20}" srcOrd="0" destOrd="0" presId="urn:microsoft.com/office/officeart/2005/8/layout/hChevron3"/>
    <dgm:cxn modelId="{48E01584-3D3C-4CF6-A66B-DE5A2A74E6E6}" type="presOf" srcId="{7C1A20FF-F3E2-4D2A-A939-2DC8462885D2}" destId="{FB42B01D-AAE2-43C6-A4BC-36096CAA0412}" srcOrd="0" destOrd="0" presId="urn:microsoft.com/office/officeart/2005/8/layout/hChevron3"/>
    <dgm:cxn modelId="{B188AFAB-B76B-4985-8F00-BC76FE867206}" srcId="{4C82D252-5123-4925-83AD-35A1A1546E2E}" destId="{D139AB07-2FBC-428A-B189-5EA81594EC79}" srcOrd="1" destOrd="0" parTransId="{C6BE802F-8BC0-44D8-8739-6B5AC6FAD61A}" sibTransId="{260679FE-2D0D-42FC-B17F-793976EF0087}"/>
    <dgm:cxn modelId="{D6D8DFF3-3ABA-4086-9EE2-E7A2FC00780B}" type="presOf" srcId="{9DB163F7-196B-41A2-B1BC-4262BE9DACC4}" destId="{57E44B25-191B-4CCA-92DB-8EFE15C767A4}" srcOrd="0" destOrd="1" presId="urn:microsoft.com/office/officeart/2005/8/layout/hChevron3"/>
    <dgm:cxn modelId="{4DE1C42F-56AD-4891-A0FD-E022210EA409}" srcId="{4C82D252-5123-4925-83AD-35A1A1546E2E}" destId="{83B9EEA0-47B6-46AD-BCF3-5EA4B3D4F70B}" srcOrd="6" destOrd="0" parTransId="{A3DEEFB8-FBF4-4D16-98C2-1F9891093000}" sibTransId="{57AF849F-02A5-4951-B8F8-35C3C2C14EB4}"/>
    <dgm:cxn modelId="{8F74CEAB-956B-4CB3-B7DA-98C89C9B751D}" type="presOf" srcId="{19F83FC7-C565-4B6D-915E-42DAC9F337CC}" destId="{CDF9DC37-BE55-4471-A21F-51C4E7C487ED}" srcOrd="0" destOrd="0" presId="urn:microsoft.com/office/officeart/2005/8/layout/hChevron3"/>
    <dgm:cxn modelId="{B3F41D6F-435F-4B19-8424-A174710397A3}" type="presOf" srcId="{D139AB07-2FBC-428A-B189-5EA81594EC79}" destId="{68069263-8E20-4F93-B4F5-0AE39ED6BCB6}" srcOrd="0" destOrd="0" presId="urn:microsoft.com/office/officeart/2005/8/layout/hChevron3"/>
    <dgm:cxn modelId="{AD2A8D15-3F1F-47A8-831F-F3D37FE1E896}" type="presOf" srcId="{E036D384-8DF2-4ADF-BC53-77017B40014C}" destId="{CDF9DC37-BE55-4471-A21F-51C4E7C487ED}" srcOrd="0" destOrd="1" presId="urn:microsoft.com/office/officeart/2005/8/layout/hChevron3"/>
    <dgm:cxn modelId="{99F79BBE-8FD0-4056-BDCC-4F76B001D85B}" type="presOf" srcId="{42FA3884-E2E0-4F86-8EC5-C2FE941D2659}" destId="{7013247B-5121-4CBD-ADC3-C575719F9B20}" srcOrd="0" destOrd="1" presId="urn:microsoft.com/office/officeart/2005/8/layout/hChevron3"/>
    <dgm:cxn modelId="{B8D51EC3-98ED-44CF-B3F0-60E6370A680C}" srcId="{4C82D252-5123-4925-83AD-35A1A1546E2E}" destId="{19F83FC7-C565-4B6D-915E-42DAC9F337CC}" srcOrd="0" destOrd="0" parTransId="{25CFA69D-6F21-4262-B5C7-1893A0473507}" sibTransId="{A3C047F3-9CBC-4328-B937-0C0B70FEEC77}"/>
    <dgm:cxn modelId="{DA42D1D2-4D20-4A73-9AFF-AA1E2CD4CD21}" type="presOf" srcId="{FD36EB10-1DAD-4C94-AE1E-95F7D0ABF85E}" destId="{31C24C80-2CAF-4E66-8B6D-1072B96959E9}" srcOrd="0" destOrd="0" presId="urn:microsoft.com/office/officeart/2005/8/layout/hChevron3"/>
    <dgm:cxn modelId="{3AD621B5-5F8A-46F1-9C87-61FBD53D5E13}" type="presOf" srcId="{83B9EEA0-47B6-46AD-BCF3-5EA4B3D4F70B}" destId="{098B48CB-F04D-4826-910B-192184DCF101}" srcOrd="0" destOrd="0" presId="urn:microsoft.com/office/officeart/2005/8/layout/hChevron3"/>
    <dgm:cxn modelId="{F2D1AF6E-F836-4155-8240-7B68BE0D89DA}" srcId="{7C1A20FF-F3E2-4D2A-A939-2DC8462885D2}" destId="{241933BF-28D8-4615-AA14-56F686206755}" srcOrd="0" destOrd="0" parTransId="{0A879553-7183-46C8-8C3F-ACECC942533C}" sibTransId="{EBFCCC8F-76AA-4574-B2B6-112FCA535276}"/>
    <dgm:cxn modelId="{2DFDBB3D-A6B8-486C-9652-1C9E1D9302D7}" type="presOf" srcId="{E5945E66-384E-408A-8937-7259E15835AD}" destId="{31C24C80-2CAF-4E66-8B6D-1072B96959E9}" srcOrd="0" destOrd="1" presId="urn:microsoft.com/office/officeart/2005/8/layout/hChevron3"/>
    <dgm:cxn modelId="{5E58D07E-8192-43B1-AC03-66CEB189BC49}" srcId="{D139AB07-2FBC-428A-B189-5EA81594EC79}" destId="{661F96D3-DF23-4D61-AD46-206AF31DDB67}" srcOrd="0" destOrd="0" parTransId="{2C84215F-578D-4AAE-B84F-CD650739BDFD}" sibTransId="{B26DB591-EA0C-4420-B069-D57AAF2DAF28}"/>
    <dgm:cxn modelId="{FC44A35B-55C4-461D-8136-55EEA72C4DC8}" srcId="{4C82D252-5123-4925-83AD-35A1A1546E2E}" destId="{FD36EB10-1DAD-4C94-AE1E-95F7D0ABF85E}" srcOrd="5" destOrd="0" parTransId="{20D6C4FA-0D2B-46A8-8A7E-BCD3BFF9FE78}" sibTransId="{3E3E2FA0-F481-4186-A00F-73C239A4E228}"/>
    <dgm:cxn modelId="{1BE75ED2-377A-4704-ADD9-250CF4E6F67F}" type="presOf" srcId="{241933BF-28D8-4615-AA14-56F686206755}" destId="{FB42B01D-AAE2-43C6-A4BC-36096CAA0412}" srcOrd="0" destOrd="1" presId="urn:microsoft.com/office/officeart/2005/8/layout/hChevron3"/>
    <dgm:cxn modelId="{E34B7565-00B3-4EF4-9063-C4355ACADC17}" type="presParOf" srcId="{ED4170B3-097C-4B7B-99F7-1206B3C157FD}" destId="{CDF9DC37-BE55-4471-A21F-51C4E7C487ED}" srcOrd="0" destOrd="0" presId="urn:microsoft.com/office/officeart/2005/8/layout/hChevron3"/>
    <dgm:cxn modelId="{E642562D-437F-484E-BE86-DE72AD15F7DC}" type="presParOf" srcId="{ED4170B3-097C-4B7B-99F7-1206B3C157FD}" destId="{3A730F95-A118-4AA2-8101-D4EB560A6A8F}" srcOrd="1" destOrd="0" presId="urn:microsoft.com/office/officeart/2005/8/layout/hChevron3"/>
    <dgm:cxn modelId="{C6653426-ECDE-4329-B544-FC67B3952E82}" type="presParOf" srcId="{ED4170B3-097C-4B7B-99F7-1206B3C157FD}" destId="{68069263-8E20-4F93-B4F5-0AE39ED6BCB6}" srcOrd="2" destOrd="0" presId="urn:microsoft.com/office/officeart/2005/8/layout/hChevron3"/>
    <dgm:cxn modelId="{EE02505D-61EE-4484-8CE3-9339DEFEDC05}" type="presParOf" srcId="{ED4170B3-097C-4B7B-99F7-1206B3C157FD}" destId="{34E7630B-A6E0-4B44-8EAC-BD6E564A4B29}" srcOrd="3" destOrd="0" presId="urn:microsoft.com/office/officeart/2005/8/layout/hChevron3"/>
    <dgm:cxn modelId="{2540D6D9-C8CA-405E-99C2-9FFE91F02CB5}" type="presParOf" srcId="{ED4170B3-097C-4B7B-99F7-1206B3C157FD}" destId="{7013247B-5121-4CBD-ADC3-C575719F9B20}" srcOrd="4" destOrd="0" presId="urn:microsoft.com/office/officeart/2005/8/layout/hChevron3"/>
    <dgm:cxn modelId="{F9AFC4FA-6C0F-4B64-B42E-2F6229A68558}" type="presParOf" srcId="{ED4170B3-097C-4B7B-99F7-1206B3C157FD}" destId="{41B1DE57-80E1-461A-B1F3-AE508FF20AC1}" srcOrd="5" destOrd="0" presId="urn:microsoft.com/office/officeart/2005/8/layout/hChevron3"/>
    <dgm:cxn modelId="{68B0EF30-1C3A-45DA-8609-7120332625B4}" type="presParOf" srcId="{ED4170B3-097C-4B7B-99F7-1206B3C157FD}" destId="{57E44B25-191B-4CCA-92DB-8EFE15C767A4}" srcOrd="6" destOrd="0" presId="urn:microsoft.com/office/officeart/2005/8/layout/hChevron3"/>
    <dgm:cxn modelId="{0C9337E2-C255-4F45-B1AE-C3C2E238027A}" type="presParOf" srcId="{ED4170B3-097C-4B7B-99F7-1206B3C157FD}" destId="{B1D29A47-08E7-45ED-831A-06552C85BA07}" srcOrd="7" destOrd="0" presId="urn:microsoft.com/office/officeart/2005/8/layout/hChevron3"/>
    <dgm:cxn modelId="{1666C6D3-AE28-40B7-9241-2667C42E157B}" type="presParOf" srcId="{ED4170B3-097C-4B7B-99F7-1206B3C157FD}" destId="{FB42B01D-AAE2-43C6-A4BC-36096CAA0412}" srcOrd="8" destOrd="0" presId="urn:microsoft.com/office/officeart/2005/8/layout/hChevron3"/>
    <dgm:cxn modelId="{322DD23B-3C4C-4407-8F31-248AA3C12024}" type="presParOf" srcId="{ED4170B3-097C-4B7B-99F7-1206B3C157FD}" destId="{F2027F4C-433B-4BEA-B242-461ADF392979}" srcOrd="9" destOrd="0" presId="urn:microsoft.com/office/officeart/2005/8/layout/hChevron3"/>
    <dgm:cxn modelId="{F0F5668A-3228-4AE1-928A-4D89EFEC0428}" type="presParOf" srcId="{ED4170B3-097C-4B7B-99F7-1206B3C157FD}" destId="{31C24C80-2CAF-4E66-8B6D-1072B96959E9}" srcOrd="10" destOrd="0" presId="urn:microsoft.com/office/officeart/2005/8/layout/hChevron3"/>
    <dgm:cxn modelId="{4FF8EC26-F86C-448B-BCEE-F12F157756EF}" type="presParOf" srcId="{ED4170B3-097C-4B7B-99F7-1206B3C157FD}" destId="{8E7355FB-33D1-4EB6-8669-7EC87E82FF77}" srcOrd="11" destOrd="0" presId="urn:microsoft.com/office/officeart/2005/8/layout/hChevron3"/>
    <dgm:cxn modelId="{BE6FCB5E-DB36-430A-B6A4-2EE437B0779A}" type="presParOf" srcId="{ED4170B3-097C-4B7B-99F7-1206B3C157FD}" destId="{098B48CB-F04D-4826-910B-192184DCF101}" srcOrd="1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51147" cy="497683"/>
          </a:xfrm>
          <a:prstGeom prst="rect">
            <a:avLst/>
          </a:prstGeom>
        </p:spPr>
        <p:txBody>
          <a:bodyPr vert="horz" lIns="87600" tIns="43800" rIns="87600" bIns="43800" rtlCol="0"/>
          <a:lstStyle>
            <a:lvl1pPr algn="l" defTabSz="958537" fontAlgn="auto">
              <a:spcBef>
                <a:spcPts val="0"/>
              </a:spcBef>
              <a:spcAft>
                <a:spcPts val="0"/>
              </a:spcAft>
              <a:defRPr sz="1100"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9193" y="1"/>
            <a:ext cx="2951147" cy="497683"/>
          </a:xfrm>
          <a:prstGeom prst="rect">
            <a:avLst/>
          </a:prstGeom>
        </p:spPr>
        <p:txBody>
          <a:bodyPr vert="horz" lIns="87600" tIns="43800" rIns="87600" bIns="43800" rtlCol="0"/>
          <a:lstStyle>
            <a:lvl1pPr algn="r" defTabSz="958537" fontAlgn="auto">
              <a:spcBef>
                <a:spcPts val="0"/>
              </a:spcBef>
              <a:spcAft>
                <a:spcPts val="0"/>
              </a:spcAft>
              <a:defRPr sz="1100">
                <a:latin typeface="+mn-lt"/>
              </a:defRPr>
            </a:lvl1pPr>
          </a:lstStyle>
          <a:p>
            <a:pPr>
              <a:defRPr/>
            </a:pPr>
            <a:fld id="{2BBF6CF9-0648-4F25-92F0-2494343EDD95}" type="datetimeFigureOut">
              <a:rPr lang="en-US"/>
              <a:pPr>
                <a:defRPr/>
              </a:pPr>
              <a:t>2/25/2026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3243"/>
            <a:ext cx="2951147" cy="497682"/>
          </a:xfrm>
          <a:prstGeom prst="rect">
            <a:avLst/>
          </a:prstGeom>
        </p:spPr>
        <p:txBody>
          <a:bodyPr vert="horz" lIns="87600" tIns="43800" rIns="87600" bIns="43800" rtlCol="0" anchor="b"/>
          <a:lstStyle>
            <a:lvl1pPr algn="l" defTabSz="958537" fontAlgn="auto">
              <a:spcBef>
                <a:spcPts val="0"/>
              </a:spcBef>
              <a:spcAft>
                <a:spcPts val="0"/>
              </a:spcAft>
              <a:defRPr sz="1100"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9193" y="9443243"/>
            <a:ext cx="2951147" cy="497682"/>
          </a:xfrm>
          <a:prstGeom prst="rect">
            <a:avLst/>
          </a:prstGeom>
        </p:spPr>
        <p:txBody>
          <a:bodyPr vert="horz" lIns="87600" tIns="43800" rIns="87600" bIns="43800" rtlCol="0" anchor="b"/>
          <a:lstStyle>
            <a:lvl1pPr algn="r" defTabSz="958537" fontAlgn="auto">
              <a:spcBef>
                <a:spcPts val="0"/>
              </a:spcBef>
              <a:spcAft>
                <a:spcPts val="0"/>
              </a:spcAft>
              <a:defRPr sz="1100">
                <a:latin typeface="+mn-lt"/>
              </a:defRPr>
            </a:lvl1pPr>
          </a:lstStyle>
          <a:p>
            <a:pPr>
              <a:defRPr/>
            </a:pPr>
            <a:fld id="{64B3F0AC-DAC1-4483-BD63-ABB7A71B9208}" type="slidenum">
              <a:rPr lang="de-DE"/>
              <a:pPr>
                <a:defRPr/>
              </a:pPr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00303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51147" cy="497683"/>
          </a:xfrm>
          <a:prstGeom prst="rect">
            <a:avLst/>
          </a:prstGeom>
        </p:spPr>
        <p:txBody>
          <a:bodyPr vert="horz" lIns="94888" tIns="47444" rIns="94888" bIns="47444" rtlCol="0"/>
          <a:lstStyle>
            <a:lvl1pPr algn="l" defTabSz="958537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9193" y="1"/>
            <a:ext cx="2951147" cy="497683"/>
          </a:xfrm>
          <a:prstGeom prst="rect">
            <a:avLst/>
          </a:prstGeom>
        </p:spPr>
        <p:txBody>
          <a:bodyPr vert="horz" lIns="94888" tIns="47444" rIns="94888" bIns="47444" rtlCol="0"/>
          <a:lstStyle>
            <a:lvl1pPr algn="r" defTabSz="958537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4216B11-962A-459D-9F34-A9F88FC5B32F}" type="datetimeFigureOut">
              <a:rPr lang="en-US"/>
              <a:pPr>
                <a:defRPr/>
              </a:pPr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6125"/>
            <a:ext cx="662463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88" tIns="47444" rIns="94888" bIns="47444" rtlCol="0" anchor="ctr"/>
          <a:lstStyle/>
          <a:p>
            <a:pPr lvl="0"/>
            <a:endParaRPr lang="de-DE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5" y="4722419"/>
            <a:ext cx="5449895" cy="4474368"/>
          </a:xfrm>
          <a:prstGeom prst="rect">
            <a:avLst/>
          </a:prstGeom>
        </p:spPr>
        <p:txBody>
          <a:bodyPr vert="horz" lIns="94888" tIns="47444" rIns="94888" bIns="47444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243"/>
            <a:ext cx="2951147" cy="497682"/>
          </a:xfrm>
          <a:prstGeom prst="rect">
            <a:avLst/>
          </a:prstGeom>
        </p:spPr>
        <p:txBody>
          <a:bodyPr vert="horz" lIns="94888" tIns="47444" rIns="94888" bIns="47444" rtlCol="0" anchor="b"/>
          <a:lstStyle>
            <a:lvl1pPr algn="l" defTabSz="958537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9193" y="9443243"/>
            <a:ext cx="2951147" cy="497682"/>
          </a:xfrm>
          <a:prstGeom prst="rect">
            <a:avLst/>
          </a:prstGeom>
        </p:spPr>
        <p:txBody>
          <a:bodyPr vert="horz" lIns="94888" tIns="47444" rIns="94888" bIns="47444" rtlCol="0" anchor="b"/>
          <a:lstStyle>
            <a:lvl1pPr algn="r" defTabSz="958537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3D8CC4E-0128-46C7-B73A-80AEB79F9D51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245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1B198DEA-47A9-448D-98A9-565852A3BB4B}"/>
              </a:ext>
            </a:extLst>
          </p:cNvPr>
          <p:cNvSpPr/>
          <p:nvPr userDrawn="1"/>
        </p:nvSpPr>
        <p:spPr>
          <a:xfrm>
            <a:off x="251460" y="279105"/>
            <a:ext cx="5867987" cy="4365793"/>
          </a:xfrm>
          <a:prstGeom prst="rect">
            <a:avLst/>
          </a:prstGeom>
          <a:solidFill>
            <a:srgbClr val="009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25"/>
          </a:p>
        </p:txBody>
      </p:sp>
      <p:sp>
        <p:nvSpPr>
          <p:cNvPr id="10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854117" y="4729290"/>
            <a:ext cx="2057400" cy="273844"/>
          </a:xfrm>
          <a:prstGeom prst="rect">
            <a:avLst/>
          </a:prstGeom>
        </p:spPr>
        <p:txBody>
          <a:bodyPr anchor="ctr"/>
          <a:lstStyle>
            <a:lvl1pPr algn="r">
              <a:defRPr sz="8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2300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92A6ACA-13BB-4D72-AC7C-DF310CBA7D2A}"/>
              </a:ext>
            </a:extLst>
          </p:cNvPr>
          <p:cNvSpPr/>
          <p:nvPr userDrawn="1"/>
        </p:nvSpPr>
        <p:spPr>
          <a:xfrm>
            <a:off x="0" y="1"/>
            <a:ext cx="9144000" cy="464489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25">
              <a:solidFill>
                <a:srgbClr val="0095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803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652CC2E1-04B9-41C7-8941-FA5C9B5D1CB9}"/>
              </a:ext>
            </a:extLst>
          </p:cNvPr>
          <p:cNvSpPr/>
          <p:nvPr userDrawn="1"/>
        </p:nvSpPr>
        <p:spPr>
          <a:xfrm>
            <a:off x="3563178" y="274510"/>
            <a:ext cx="5329362" cy="4365794"/>
          </a:xfrm>
          <a:prstGeom prst="rect">
            <a:avLst/>
          </a:prstGeom>
          <a:gradFill flip="none" rotWithShape="1">
            <a:gsLst>
              <a:gs pos="0">
                <a:srgbClr val="0B1533"/>
              </a:gs>
              <a:gs pos="100000">
                <a:srgbClr val="091F4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25">
              <a:solidFill>
                <a:srgbClr val="009597"/>
              </a:solidFill>
            </a:endParaRPr>
          </a:p>
        </p:txBody>
      </p:sp>
      <p:pic>
        <p:nvPicPr>
          <p:cNvPr id="4" name="Image 3" descr="Une image contenant texte, intérieur&#10;&#10;Description générée automatiquement">
            <a:extLst>
              <a:ext uri="{FF2B5EF4-FFF2-40B4-BE49-F238E27FC236}">
                <a16:creationId xmlns:a16="http://schemas.microsoft.com/office/drawing/2014/main" xmlns="" id="{278C1941-74F5-8B48-E14E-51C77C8FD3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1460" y="274511"/>
            <a:ext cx="3311718" cy="435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504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92A6ACA-13BB-4D72-AC7C-DF310CBA7D2A}"/>
              </a:ext>
            </a:extLst>
          </p:cNvPr>
          <p:cNvSpPr/>
          <p:nvPr userDrawn="1"/>
        </p:nvSpPr>
        <p:spPr>
          <a:xfrm>
            <a:off x="251460" y="279106"/>
            <a:ext cx="8641080" cy="436579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25">
              <a:solidFill>
                <a:srgbClr val="0095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97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E0B9973-329A-4E57-8DB9-3B10E5A14BBA}"/>
              </a:ext>
            </a:extLst>
          </p:cNvPr>
          <p:cNvSpPr/>
          <p:nvPr userDrawn="1"/>
        </p:nvSpPr>
        <p:spPr>
          <a:xfrm>
            <a:off x="251460" y="279106"/>
            <a:ext cx="8641080" cy="436579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25">
              <a:solidFill>
                <a:srgbClr val="0095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206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92A6ACA-13BB-4D72-AC7C-DF310CBA7D2A}"/>
              </a:ext>
            </a:extLst>
          </p:cNvPr>
          <p:cNvSpPr/>
          <p:nvPr userDrawn="1"/>
        </p:nvSpPr>
        <p:spPr>
          <a:xfrm>
            <a:off x="251460" y="279106"/>
            <a:ext cx="8641080" cy="4365794"/>
          </a:xfrm>
          <a:prstGeom prst="rect">
            <a:avLst/>
          </a:prstGeom>
          <a:gradFill>
            <a:gsLst>
              <a:gs pos="0">
                <a:srgbClr val="009597"/>
              </a:gs>
              <a:gs pos="100000">
                <a:srgbClr val="007B7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25">
              <a:solidFill>
                <a:srgbClr val="0095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0147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vertical et tex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2A9B01B-48DB-46F1-B662-8B22C56A3315}"/>
              </a:ext>
            </a:extLst>
          </p:cNvPr>
          <p:cNvSpPr/>
          <p:nvPr userDrawn="1"/>
        </p:nvSpPr>
        <p:spPr>
          <a:xfrm>
            <a:off x="251460" y="276545"/>
            <a:ext cx="8641080" cy="4587851"/>
          </a:xfrm>
          <a:prstGeom prst="rect">
            <a:avLst/>
          </a:prstGeom>
          <a:gradFill flip="none" rotWithShape="1">
            <a:gsLst>
              <a:gs pos="0">
                <a:srgbClr val="0B1533"/>
              </a:gs>
              <a:gs pos="100000">
                <a:srgbClr val="091F4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25">
              <a:solidFill>
                <a:srgbClr val="009597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3633D83-7741-4600-8402-6738B4909E54}"/>
              </a:ext>
            </a:extLst>
          </p:cNvPr>
          <p:cNvSpPr/>
          <p:nvPr userDrawn="1"/>
        </p:nvSpPr>
        <p:spPr>
          <a:xfrm>
            <a:off x="251460" y="4864396"/>
            <a:ext cx="8790272" cy="2791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25"/>
          </a:p>
        </p:txBody>
      </p:sp>
    </p:spTree>
    <p:extLst>
      <p:ext uri="{BB962C8B-B14F-4D97-AF65-F5344CB8AC3E}">
        <p14:creationId xmlns:p14="http://schemas.microsoft.com/office/powerpoint/2010/main" val="1531233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2">
            <a:extLst>
              <a:ext uri="{FF2B5EF4-FFF2-40B4-BE49-F238E27FC236}">
                <a16:creationId xmlns:a16="http://schemas.microsoft.com/office/drawing/2014/main" xmlns="" id="{88B3B3F4-9561-404A-81C5-352084D43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7494"/>
            <a:ext cx="8126040" cy="53190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lvl="0"/>
            <a:endParaRPr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xmlns="" id="{72C432E4-0538-4F87-96F9-A2F229E16A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73360" y="1311654"/>
            <a:ext cx="8047211" cy="10361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37384" indent="-237384">
              <a:buClr>
                <a:srgbClr val="009597"/>
              </a:buClr>
              <a:buSzPct val="100000"/>
              <a:buFont typeface="Arial" panose="020B0604020202020204" pitchFamily="34" charset="0"/>
              <a:buChar char="►"/>
              <a:defRPr sz="1200" b="0" baseline="0">
                <a:solidFill>
                  <a:srgbClr val="485155"/>
                </a:solidFill>
                <a:latin typeface="Arial"/>
                <a:cs typeface="Arial"/>
              </a:defRPr>
            </a:lvl1pPr>
            <a:lvl2pPr marL="514331" indent="-197820">
              <a:buClrTx/>
              <a:buSzPct val="75000"/>
              <a:buFont typeface="Arial" panose="020B0604020202020204" pitchFamily="34" charset="0"/>
              <a:buChar char="•"/>
              <a:defRPr sz="1200">
                <a:solidFill>
                  <a:srgbClr val="485155"/>
                </a:solidFill>
                <a:latin typeface="Arial"/>
                <a:cs typeface="Arial"/>
              </a:defRPr>
            </a:lvl2pPr>
            <a:lvl3pPr marL="791279" indent="-158257">
              <a:buClr>
                <a:srgbClr val="009597"/>
              </a:buClr>
              <a:buSzPct val="60000"/>
              <a:buFont typeface="Arial" pitchFamily="34" charset="0"/>
              <a:buChar char="•"/>
              <a:defRPr sz="1200">
                <a:solidFill>
                  <a:srgbClr val="485155"/>
                </a:solidFill>
                <a:latin typeface="Arial"/>
                <a:cs typeface="Arial"/>
              </a:defRPr>
            </a:lvl3pPr>
            <a:lvl4pPr marL="1107791" indent="-158257">
              <a:buClr>
                <a:schemeClr val="tx1">
                  <a:lumMod val="75000"/>
                </a:schemeClr>
              </a:buClr>
              <a:buFont typeface="Arial" pitchFamily="34" charset="0"/>
              <a:buChar char="•"/>
              <a:defRPr sz="1200">
                <a:solidFill>
                  <a:srgbClr val="485155"/>
                </a:solidFill>
                <a:latin typeface="Arial"/>
                <a:cs typeface="Arial"/>
              </a:defRPr>
            </a:lvl4pPr>
            <a:lvl5pPr marL="1424303" indent="-158257">
              <a:buClr>
                <a:srgbClr val="009597"/>
              </a:buClr>
              <a:buFont typeface="Arial" pitchFamily="34" charset="0"/>
              <a:buChar char="•"/>
              <a:defRPr sz="1200">
                <a:solidFill>
                  <a:srgbClr val="485155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Cliquez pour modifier les styles du texte du masque 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3" name="Connecteur droit 6">
            <a:extLst>
              <a:ext uri="{FF2B5EF4-FFF2-40B4-BE49-F238E27FC236}">
                <a16:creationId xmlns:a16="http://schemas.microsoft.com/office/drawing/2014/main" xmlns="" id="{70A4E237-73C0-E7EF-6076-614C744E1D11}"/>
              </a:ext>
            </a:extLst>
          </p:cNvPr>
          <p:cNvCxnSpPr>
            <a:cxnSpLocks/>
          </p:cNvCxnSpPr>
          <p:nvPr userDrawn="1"/>
        </p:nvCxnSpPr>
        <p:spPr>
          <a:xfrm>
            <a:off x="603011" y="855032"/>
            <a:ext cx="2988000" cy="0"/>
          </a:xfrm>
          <a:prstGeom prst="line">
            <a:avLst/>
          </a:prstGeom>
          <a:noFill/>
          <a:ln w="12700" cap="flat" cmpd="sng" algn="ctr">
            <a:solidFill>
              <a:schemeClr val="accent4"/>
            </a:solidFill>
            <a:prstDash val="solid"/>
          </a:ln>
          <a:effectLst/>
        </p:spPr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66C3297B-CDE8-5863-2722-355DAAF2F7DF}"/>
              </a:ext>
            </a:extLst>
          </p:cNvPr>
          <p:cNvCxnSpPr>
            <a:cxnSpLocks/>
          </p:cNvCxnSpPr>
          <p:nvPr userDrawn="1"/>
        </p:nvCxnSpPr>
        <p:spPr>
          <a:xfrm>
            <a:off x="603011" y="855032"/>
            <a:ext cx="2988000" cy="0"/>
          </a:xfrm>
          <a:prstGeom prst="line">
            <a:avLst/>
          </a:prstGeom>
          <a:noFill/>
          <a:ln w="12700" cap="flat" cmpd="sng" algn="ctr">
            <a:solidFill>
              <a:srgbClr val="009597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82533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76BD293C-652E-455F-BE89-9B3362065CC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558" y="4676037"/>
            <a:ext cx="2156081" cy="43531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82552223-EB99-5213-2FE6-2E704CEAB50C}"/>
              </a:ext>
            </a:extLst>
          </p:cNvPr>
          <p:cNvSpPr txBox="1"/>
          <p:nvPr/>
        </p:nvSpPr>
        <p:spPr>
          <a:xfrm>
            <a:off x="8681816" y="4928056"/>
            <a:ext cx="4621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4AF5547-360D-DA44-A676-7A9567F769AD}" type="slidenum">
              <a:rPr lang="fr-FR" sz="800" smtClean="0"/>
              <a:pPr algn="ctr"/>
              <a:t>‹N°›</a:t>
            </a:fld>
            <a:endParaRPr lang="fr-FR" sz="800" dirty="0"/>
          </a:p>
        </p:txBody>
      </p:sp>
    </p:spTree>
    <p:extLst>
      <p:ext uri="{BB962C8B-B14F-4D97-AF65-F5344CB8AC3E}">
        <p14:creationId xmlns:p14="http://schemas.microsoft.com/office/powerpoint/2010/main" val="1407065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6" r:id="rId1"/>
    <p:sldLayoutId id="2147484397" r:id="rId2"/>
    <p:sldLayoutId id="2147484399" r:id="rId3"/>
    <p:sldLayoutId id="2147484400" r:id="rId4"/>
    <p:sldLayoutId id="2147484401" r:id="rId5"/>
    <p:sldLayoutId id="2147484402" r:id="rId6"/>
    <p:sldLayoutId id="2147484403" r:id="rId7"/>
    <p:sldLayoutId id="2147484404" r:id="rId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BAFC4F9-4C4D-1CB4-9246-4933CF756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xmlns="" id="{09DDD536-30FB-5545-7E16-F464E192B21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9282" y="271553"/>
            <a:ext cx="3765160" cy="45978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C5970ADC-C8D6-D309-7815-129EC9A4C897}"/>
              </a:ext>
            </a:extLst>
          </p:cNvPr>
          <p:cNvSpPr/>
          <p:nvPr/>
        </p:nvSpPr>
        <p:spPr>
          <a:xfrm>
            <a:off x="204422" y="4866955"/>
            <a:ext cx="2063994" cy="1908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fr-FR" sz="1350">
              <a:solidFill>
                <a:prstClr val="white"/>
              </a:solidFill>
              <a:latin typeface="Gotham Bold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xmlns="" id="{02364A23-B7B9-585C-AA9F-9CEFD3F8BB8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14441" y="273980"/>
            <a:ext cx="4911350" cy="45954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A22D1F3F-0E91-ED60-AF10-A9BDA45ADB0B}"/>
              </a:ext>
            </a:extLst>
          </p:cNvPr>
          <p:cNvSpPr txBox="1"/>
          <p:nvPr/>
        </p:nvSpPr>
        <p:spPr>
          <a:xfrm>
            <a:off x="1236419" y="772641"/>
            <a:ext cx="6900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fr-FR" sz="3600" b="1" dirty="0" err="1">
                <a:solidFill>
                  <a:prstClr val="white"/>
                </a:solidFill>
                <a:latin typeface="Gotham Bold"/>
                <a:cs typeface="Arial" panose="020B0604020202020204" pitchFamily="34" charset="0"/>
              </a:rPr>
              <a:t>Devops</a:t>
            </a:r>
            <a:r>
              <a:rPr lang="fr-FR" sz="3600" b="1" dirty="0">
                <a:solidFill>
                  <a:prstClr val="white"/>
                </a:solidFill>
                <a:latin typeface="Gotham Bold"/>
                <a:cs typeface="Arial" panose="020B0604020202020204" pitchFamily="34" charset="0"/>
              </a:rPr>
              <a:t> - 12-3iL-2-PROMO 23 25-26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9F4DF510-217B-B5C2-FE0F-239A44C9DB0D}"/>
              </a:ext>
            </a:extLst>
          </p:cNvPr>
          <p:cNvSpPr txBox="1"/>
          <p:nvPr/>
        </p:nvSpPr>
        <p:spPr>
          <a:xfrm>
            <a:off x="328188" y="4630009"/>
            <a:ext cx="45720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fr-FR" sz="825" dirty="0">
                <a:solidFill>
                  <a:prstClr val="white"/>
                </a:solidFill>
                <a:latin typeface="ArialMT"/>
              </a:rPr>
              <a:t>2025-2026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CC068CED-6101-AE1C-63E0-57F82836048C}"/>
              </a:ext>
            </a:extLst>
          </p:cNvPr>
          <p:cNvSpPr txBox="1"/>
          <p:nvPr/>
        </p:nvSpPr>
        <p:spPr>
          <a:xfrm>
            <a:off x="1236419" y="2088041"/>
            <a:ext cx="674379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Option - Mise en œuvre et pratique de la </a:t>
            </a:r>
            <a:r>
              <a:rPr lang="fr-FR" dirty="0" err="1" smtClean="0">
                <a:solidFill>
                  <a:schemeClr val="bg1"/>
                </a:solidFill>
              </a:rPr>
              <a:t>toochain</a:t>
            </a:r>
            <a:endParaRPr lang="fr-FR" dirty="0" smtClean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144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6AB1F110-FE64-49CD-8296-498E286E1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411512"/>
            <a:ext cx="8126040" cy="396001"/>
          </a:xfrm>
        </p:spPr>
        <p:txBody>
          <a:bodyPr/>
          <a:lstStyle/>
          <a:p>
            <a:r>
              <a:rPr lang="fr-FR" sz="1800">
                <a:solidFill>
                  <a:prstClr val="black"/>
                </a:solidFill>
              </a:rPr>
              <a:t>SOMMAIRE</a:t>
            </a:r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0A39CEC-99B5-C7B5-B91D-4963573D9744}"/>
              </a:ext>
            </a:extLst>
          </p:cNvPr>
          <p:cNvSpPr/>
          <p:nvPr/>
        </p:nvSpPr>
        <p:spPr>
          <a:xfrm>
            <a:off x="611560" y="979145"/>
            <a:ext cx="6648615" cy="333976"/>
          </a:xfrm>
          <a:prstGeom prst="rect">
            <a:avLst/>
          </a:prstGeom>
          <a:noFill/>
          <a:ln w="19050">
            <a:solidFill>
              <a:srgbClr val="00959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688"/>
            <a:r>
              <a:rPr lang="fr-FR" sz="1200" dirty="0">
                <a:solidFill>
                  <a:prstClr val="black"/>
                </a:solidFill>
                <a:latin typeface="Arial"/>
              </a:rPr>
              <a:t>Introduction générale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D98A81F-A23A-429E-0187-6FED333327F7}"/>
              </a:ext>
            </a:extLst>
          </p:cNvPr>
          <p:cNvSpPr/>
          <p:nvPr/>
        </p:nvSpPr>
        <p:spPr>
          <a:xfrm>
            <a:off x="611559" y="1317765"/>
            <a:ext cx="6648615" cy="333976"/>
          </a:xfrm>
          <a:prstGeom prst="rect">
            <a:avLst/>
          </a:prstGeom>
          <a:noFill/>
          <a:ln w="19050">
            <a:solidFill>
              <a:srgbClr val="00959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688"/>
            <a:endParaRPr lang="fr-FR" sz="12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89F38DEE-C0D1-C5B5-9CC8-3A2E72374D2B}"/>
              </a:ext>
            </a:extLst>
          </p:cNvPr>
          <p:cNvSpPr/>
          <p:nvPr/>
        </p:nvSpPr>
        <p:spPr>
          <a:xfrm>
            <a:off x="611560" y="1656385"/>
            <a:ext cx="6648615" cy="333976"/>
          </a:xfrm>
          <a:prstGeom prst="rect">
            <a:avLst/>
          </a:prstGeom>
          <a:noFill/>
          <a:ln w="19050">
            <a:solidFill>
              <a:srgbClr val="00959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688"/>
            <a:endParaRPr lang="fr-FR" sz="12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8B8EA3F1-0CA6-FFC7-7762-86C299DA319D}"/>
              </a:ext>
            </a:extLst>
          </p:cNvPr>
          <p:cNvSpPr/>
          <p:nvPr/>
        </p:nvSpPr>
        <p:spPr>
          <a:xfrm>
            <a:off x="611559" y="1995005"/>
            <a:ext cx="6648615" cy="333976"/>
          </a:xfrm>
          <a:prstGeom prst="rect">
            <a:avLst/>
          </a:prstGeom>
          <a:noFill/>
          <a:ln w="19050">
            <a:solidFill>
              <a:srgbClr val="00959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688"/>
            <a:endParaRPr lang="fr-FR" sz="12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8334A4F0-30FE-B2EF-E9FE-BBAC3F2B00BC}"/>
              </a:ext>
            </a:extLst>
          </p:cNvPr>
          <p:cNvSpPr/>
          <p:nvPr/>
        </p:nvSpPr>
        <p:spPr>
          <a:xfrm>
            <a:off x="611560" y="2328981"/>
            <a:ext cx="6648615" cy="333976"/>
          </a:xfrm>
          <a:prstGeom prst="rect">
            <a:avLst/>
          </a:prstGeom>
          <a:noFill/>
          <a:ln w="19050">
            <a:solidFill>
              <a:srgbClr val="00959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688"/>
            <a:endParaRPr lang="fr-FR" sz="12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31EC0D59-0F42-7CAC-BE8A-DAB3BAC88F68}"/>
              </a:ext>
            </a:extLst>
          </p:cNvPr>
          <p:cNvSpPr/>
          <p:nvPr/>
        </p:nvSpPr>
        <p:spPr>
          <a:xfrm>
            <a:off x="611559" y="2667601"/>
            <a:ext cx="6648615" cy="333976"/>
          </a:xfrm>
          <a:prstGeom prst="rect">
            <a:avLst/>
          </a:prstGeom>
          <a:noFill/>
          <a:ln w="19050">
            <a:solidFill>
              <a:srgbClr val="00959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688"/>
            <a:endParaRPr lang="fr-FR" sz="12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7771E4C-E8F9-B4FE-32D9-7BBC82F8777B}"/>
              </a:ext>
            </a:extLst>
          </p:cNvPr>
          <p:cNvSpPr/>
          <p:nvPr/>
        </p:nvSpPr>
        <p:spPr>
          <a:xfrm>
            <a:off x="611560" y="3006221"/>
            <a:ext cx="6648615" cy="333976"/>
          </a:xfrm>
          <a:prstGeom prst="rect">
            <a:avLst/>
          </a:prstGeom>
          <a:noFill/>
          <a:ln w="19050">
            <a:solidFill>
              <a:srgbClr val="00959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688"/>
            <a:endParaRPr lang="fr-FR" sz="12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222A0EE3-5405-3631-A456-96007F33153A}"/>
              </a:ext>
            </a:extLst>
          </p:cNvPr>
          <p:cNvSpPr/>
          <p:nvPr/>
        </p:nvSpPr>
        <p:spPr>
          <a:xfrm>
            <a:off x="611558" y="4016044"/>
            <a:ext cx="6648615" cy="333976"/>
          </a:xfrm>
          <a:prstGeom prst="rect">
            <a:avLst/>
          </a:prstGeom>
          <a:noFill/>
          <a:ln w="19050">
            <a:solidFill>
              <a:srgbClr val="00959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688"/>
            <a:endParaRPr lang="fr-FR" sz="12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432BE386-F984-6382-FF17-8EC3F97F3DCD}"/>
              </a:ext>
            </a:extLst>
          </p:cNvPr>
          <p:cNvSpPr/>
          <p:nvPr/>
        </p:nvSpPr>
        <p:spPr>
          <a:xfrm>
            <a:off x="611558" y="3338804"/>
            <a:ext cx="6648615" cy="333976"/>
          </a:xfrm>
          <a:prstGeom prst="rect">
            <a:avLst/>
          </a:prstGeom>
          <a:noFill/>
          <a:ln w="19050">
            <a:solidFill>
              <a:srgbClr val="00959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688"/>
            <a:endParaRPr lang="fr-FR" sz="12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4DAFCC9B-58C0-BEB0-C3FC-20C3364925F4}"/>
              </a:ext>
            </a:extLst>
          </p:cNvPr>
          <p:cNvSpPr/>
          <p:nvPr/>
        </p:nvSpPr>
        <p:spPr>
          <a:xfrm>
            <a:off x="611556" y="3677424"/>
            <a:ext cx="6648615" cy="333976"/>
          </a:xfrm>
          <a:prstGeom prst="rect">
            <a:avLst/>
          </a:prstGeom>
          <a:noFill/>
          <a:ln w="19050">
            <a:solidFill>
              <a:srgbClr val="00959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688"/>
            <a:endParaRPr lang="fr-FR" sz="1200" dirty="0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3188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76BA7DE-BB05-FCFB-8BE3-1F275946A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31E49E5F-DC39-3C89-E7AD-EFD0932F1FA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0048" y="3995739"/>
            <a:ext cx="1955045" cy="9728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43E2B5-5BF8-7BAD-FC7B-84A7774212C5}"/>
              </a:ext>
            </a:extLst>
          </p:cNvPr>
          <p:cNvSpPr txBox="1">
            <a:spLocks/>
          </p:cNvSpPr>
          <p:nvPr/>
        </p:nvSpPr>
        <p:spPr>
          <a:xfrm>
            <a:off x="611560" y="267494"/>
            <a:ext cx="8126040" cy="5319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fr-FR" sz="2400" dirty="0">
                <a:solidFill>
                  <a:schemeClr val="bg1"/>
                </a:solidFill>
              </a:rPr>
              <a:t>Module 6 : Sécurité &amp; </a:t>
            </a:r>
            <a:r>
              <a:rPr lang="fr-FR" sz="2400" dirty="0" err="1">
                <a:solidFill>
                  <a:schemeClr val="bg1"/>
                </a:solidFill>
              </a:rPr>
              <a:t>DevSecOps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86030E76-E1E6-D695-10B4-ED8621A286C5}"/>
              </a:ext>
            </a:extLst>
          </p:cNvPr>
          <p:cNvSpPr txBox="1"/>
          <p:nvPr/>
        </p:nvSpPr>
        <p:spPr>
          <a:xfrm>
            <a:off x="328934" y="831234"/>
            <a:ext cx="8506721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Introduction au </a:t>
            </a:r>
            <a:r>
              <a:rPr lang="fr-FR" dirty="0" err="1">
                <a:solidFill>
                  <a:schemeClr val="bg1"/>
                </a:solidFill>
              </a:rPr>
              <a:t>DevSecOps</a:t>
            </a:r>
            <a:r>
              <a:rPr lang="fr-FR" dirty="0">
                <a:solidFill>
                  <a:schemeClr val="bg1"/>
                </a:solidFill>
              </a:rPr>
              <a:t> et à la Security by Design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Sécurité dans la CI (code, dépendances, artefacts)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Sécurité dans la CD et le </a:t>
            </a:r>
            <a:r>
              <a:rPr lang="fr-FR" dirty="0" err="1">
                <a:solidFill>
                  <a:schemeClr val="bg1"/>
                </a:solidFill>
              </a:rPr>
              <a:t>GitOps</a:t>
            </a:r>
            <a:endParaRPr lang="fr-FR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Observabilité des applications et de l’infrastructure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Policy as Code et gouvernance sécurité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Sécurité </a:t>
            </a:r>
            <a:r>
              <a:rPr lang="fr-FR" dirty="0" err="1">
                <a:solidFill>
                  <a:schemeClr val="bg1"/>
                </a:solidFill>
              </a:rPr>
              <a:t>runtime</a:t>
            </a:r>
            <a:r>
              <a:rPr lang="fr-FR" dirty="0">
                <a:solidFill>
                  <a:schemeClr val="bg1"/>
                </a:solidFill>
              </a:rPr>
              <a:t>, observabilité et SIEM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Étude de cas et synthèse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288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 smtClean="0"/>
              <a:t>Kit de démarrage</a:t>
            </a:r>
            <a:endParaRPr lang="fr-FR" sz="2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7451" y="993643"/>
            <a:ext cx="8047211" cy="3568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GITLAB </a:t>
            </a:r>
            <a:r>
              <a:rPr lang="fr-FR" dirty="0"/>
              <a:t>: https://dvp-srv-gitlab.campus12avenue.fr/ </a:t>
            </a:r>
            <a:r>
              <a:rPr lang="fr-FR" dirty="0" smtClean="0"/>
              <a:t> 172.16.21.16</a:t>
            </a:r>
            <a:r>
              <a:rPr lang="fr-FR" dirty="0"/>
              <a:t> </a:t>
            </a:r>
            <a:endParaRPr lang="fr-FR" dirty="0" smtClean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Chaque étudiant est identifié par un indice</a:t>
            </a:r>
          </a:p>
          <a:p>
            <a:pPr marL="0" indent="0">
              <a:buNone/>
            </a:pPr>
            <a:r>
              <a:rPr lang="fr-FR" dirty="0" smtClean="0"/>
              <a:t>s01…s07 et le mot de passe bienvenue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smtClean="0"/>
              <a:t>Chaque étudiant </a:t>
            </a:r>
          </a:p>
          <a:p>
            <a:r>
              <a:rPr lang="fr-FR" dirty="0" smtClean="0"/>
              <a:t>Groupe </a:t>
            </a:r>
            <a:r>
              <a:rPr lang="fr-FR" dirty="0"/>
              <a:t>: tp-devops-2526/</a:t>
            </a:r>
            <a:r>
              <a:rPr lang="fr-FR" dirty="0" err="1"/>
              <a:t>sXX</a:t>
            </a:r>
            <a:endParaRPr lang="fr-FR" dirty="0"/>
          </a:p>
          <a:p>
            <a:r>
              <a:rPr lang="fr-FR" dirty="0" smtClean="0"/>
              <a:t>3 Repos </a:t>
            </a:r>
            <a:r>
              <a:rPr lang="fr-FR" dirty="0"/>
              <a:t>:</a:t>
            </a:r>
          </a:p>
          <a:p>
            <a:pPr lvl="1"/>
            <a:r>
              <a:rPr lang="fr-FR" dirty="0"/>
              <a:t>infra: https://dvp-srv-gitlab.campus12avenue.fr/tp-devops-2526/sXX/infra.git</a:t>
            </a:r>
          </a:p>
          <a:p>
            <a:pPr lvl="1"/>
            <a:r>
              <a:rPr lang="fr-FR" dirty="0"/>
              <a:t>api: https://dvp-srv-gitlab.campus12avenue.fr/tp-devops-2526/sXX/api.git</a:t>
            </a:r>
          </a:p>
          <a:p>
            <a:pPr lvl="1"/>
            <a:r>
              <a:rPr lang="fr-FR" dirty="0" err="1"/>
              <a:t>gitops</a:t>
            </a:r>
            <a:r>
              <a:rPr lang="fr-FR" dirty="0"/>
              <a:t>: https://dvp-srv-gitlab.campus12avenue.fr/tp-devops-2526/sXX/gitops.git</a:t>
            </a:r>
          </a:p>
          <a:p>
            <a:pPr marL="0" indent="0">
              <a:buNone/>
            </a:pPr>
            <a:r>
              <a:rPr lang="fr-FR" sz="1200" dirty="0" smtClean="0"/>
              <a:t>Où XX est </a:t>
            </a:r>
            <a:r>
              <a:rPr lang="fr-FR" sz="1200" smtClean="0"/>
              <a:t>votre indice</a:t>
            </a:r>
            <a:endParaRPr lang="fr-FR" sz="1200" dirty="0"/>
          </a:p>
          <a:p>
            <a:pPr marL="0" indent="0">
              <a:buNone/>
            </a:pP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82485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 smtClean="0"/>
              <a:t>xxx</a:t>
            </a:r>
            <a:endParaRPr lang="fr-FR" sz="2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7451" y="993643"/>
            <a:ext cx="8047211" cy="3568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b="1" dirty="0" smtClean="0"/>
              <a:t>xxx</a:t>
            </a:r>
            <a:endParaRPr lang="fr-FR" sz="1200" dirty="0"/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300439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 smtClean="0"/>
              <a:t>xxx</a:t>
            </a:r>
            <a:endParaRPr lang="fr-FR" sz="2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7451" y="993643"/>
            <a:ext cx="8047211" cy="3568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b="1" dirty="0" smtClean="0"/>
              <a:t>xxx</a:t>
            </a:r>
            <a:endParaRPr lang="fr-FR" sz="1200" dirty="0"/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169687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 smtClean="0"/>
              <a:t>xxx</a:t>
            </a:r>
            <a:endParaRPr lang="fr-FR" sz="2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7451" y="993643"/>
            <a:ext cx="8047211" cy="3568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b="1" dirty="0" smtClean="0"/>
              <a:t>xxx</a:t>
            </a:r>
            <a:endParaRPr lang="fr-FR" sz="1200" dirty="0"/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418676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 smtClean="0"/>
              <a:t>xxx</a:t>
            </a:r>
            <a:endParaRPr lang="fr-FR" sz="2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7451" y="993643"/>
            <a:ext cx="8047211" cy="3568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b="1" dirty="0" smtClean="0"/>
              <a:t>xxx</a:t>
            </a:r>
            <a:endParaRPr lang="fr-FR" sz="1200" dirty="0"/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50873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1560" y="267494"/>
            <a:ext cx="8380040" cy="531900"/>
          </a:xfrm>
        </p:spPr>
        <p:txBody>
          <a:bodyPr/>
          <a:lstStyle/>
          <a:p>
            <a:r>
              <a:rPr lang="fr-FR" sz="2400" dirty="0"/>
              <a:t>Introduction au </a:t>
            </a:r>
            <a:r>
              <a:rPr lang="fr-FR" sz="2400" dirty="0" err="1"/>
              <a:t>DevSecOps</a:t>
            </a:r>
            <a:r>
              <a:rPr lang="fr-FR" sz="2400" dirty="0"/>
              <a:t> et à la Security by Design</a:t>
            </a:r>
            <a:br>
              <a:rPr lang="fr-FR" sz="2400" dirty="0"/>
            </a:br>
            <a:r>
              <a:rPr lang="fr-FR" sz="1800" dirty="0"/>
              <a:t>Pourquoi la sécurité doit évoluer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1900" y="937260"/>
            <a:ext cx="8569700" cy="3562972"/>
          </a:xfrm>
        </p:spPr>
        <p:txBody>
          <a:bodyPr>
            <a:noAutofit/>
          </a:bodyPr>
          <a:lstStyle/>
          <a:p>
            <a:r>
              <a:rPr lang="fr-FR" sz="1200" b="1" dirty="0"/>
              <a:t>Sécurité traditionnelle (historique)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Intervient :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en fin de projet,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avant la mise en production,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sous forme d’audits ponctuels.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Fonctionne sur :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des cycles longs,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des architectures stables,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peu de changements.</a:t>
            </a:r>
          </a:p>
          <a:p>
            <a:r>
              <a:rPr lang="fr-FR" sz="1200" b="1" dirty="0"/>
              <a:t>Limites dans un monde </a:t>
            </a:r>
            <a:r>
              <a:rPr lang="fr-FR" sz="1200" b="1" dirty="0" err="1"/>
              <a:t>DevOps</a:t>
            </a:r>
            <a:endParaRPr lang="fr-FR" sz="1200" b="1" dirty="0"/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Déploiements fréquents.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Architectures distribuées.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Infrastructure dynamique.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Équipes autonomes.</a:t>
            </a:r>
          </a:p>
          <a:p>
            <a:pPr marL="0" indent="0">
              <a:buNone/>
            </a:pPr>
            <a:r>
              <a:rPr lang="fr-FR" sz="1200" dirty="0"/>
              <a:t>Une sécurité tardive est une </a:t>
            </a:r>
            <a:r>
              <a:rPr lang="fr-FR" sz="1200" b="1" dirty="0"/>
              <a:t>sécurité inefficace</a:t>
            </a:r>
            <a:r>
              <a:rPr lang="fr-FR" sz="1200" dirty="0"/>
              <a:t>, une faille détectée en production est toujours une faille détectée trop tard.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59146" y="2119044"/>
            <a:ext cx="29095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485155"/>
                </a:solidFill>
                <a:latin typeface="Arial"/>
                <a:cs typeface="Arial"/>
              </a:rPr>
              <a:t>La sécurité est perçue comme un frein,</a:t>
            </a:r>
          </a:p>
          <a:p>
            <a:r>
              <a:rPr lang="fr-FR" sz="1200" dirty="0">
                <a:solidFill>
                  <a:srgbClr val="485155"/>
                </a:solidFill>
                <a:latin typeface="Arial"/>
                <a:cs typeface="Arial"/>
              </a:rPr>
              <a:t>les vulnérabilités détectées trop tard, les opérationnels contournent la sécurité</a:t>
            </a:r>
          </a:p>
        </p:txBody>
      </p:sp>
      <p:sp>
        <p:nvSpPr>
          <p:cNvPr id="5" name="Flèche droite 4"/>
          <p:cNvSpPr/>
          <p:nvPr/>
        </p:nvSpPr>
        <p:spPr>
          <a:xfrm>
            <a:off x="5373346" y="2252826"/>
            <a:ext cx="685800" cy="3787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ccolade fermante 5"/>
          <p:cNvSpPr/>
          <p:nvPr/>
        </p:nvSpPr>
        <p:spPr>
          <a:xfrm>
            <a:off x="4853940" y="998220"/>
            <a:ext cx="335280" cy="288798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2461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1560" y="267494"/>
            <a:ext cx="8380040" cy="531900"/>
          </a:xfrm>
        </p:spPr>
        <p:txBody>
          <a:bodyPr/>
          <a:lstStyle/>
          <a:p>
            <a:r>
              <a:rPr lang="fr-FR" sz="2400" dirty="0"/>
              <a:t>Introduction au </a:t>
            </a:r>
            <a:r>
              <a:rPr lang="fr-FR" sz="2400" dirty="0" err="1"/>
              <a:t>DevSecOps</a:t>
            </a:r>
            <a:r>
              <a:rPr lang="fr-FR" sz="2400" dirty="0"/>
              <a:t> et à la Security by Design</a:t>
            </a:r>
            <a:br>
              <a:rPr lang="fr-FR" sz="2400" dirty="0"/>
            </a:br>
            <a:r>
              <a:rPr lang="fr-FR" sz="1800" dirty="0" err="1"/>
              <a:t>DevSecOps</a:t>
            </a:r>
            <a:r>
              <a:rPr lang="fr-FR" sz="1800" dirty="0"/>
              <a:t> : définition et principes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1900" y="1143000"/>
            <a:ext cx="8569700" cy="3357232"/>
          </a:xfrm>
        </p:spPr>
        <p:txBody>
          <a:bodyPr>
            <a:noAutofit/>
          </a:bodyPr>
          <a:lstStyle/>
          <a:p>
            <a:r>
              <a:rPr lang="fr-FR" sz="1200" b="1" dirty="0"/>
              <a:t>Définition</a:t>
            </a:r>
            <a:endParaRPr lang="fr-FR" sz="1200" dirty="0"/>
          </a:p>
          <a:p>
            <a:pPr lvl="1"/>
            <a:r>
              <a:rPr lang="fr-FR" sz="1200" dirty="0"/>
              <a:t>Le </a:t>
            </a:r>
            <a:r>
              <a:rPr lang="fr-FR" sz="1200" dirty="0" err="1"/>
              <a:t>DevSecOps</a:t>
            </a:r>
            <a:r>
              <a:rPr lang="fr-FR" sz="1200" dirty="0"/>
              <a:t> est une approche qui consiste à </a:t>
            </a:r>
            <a:r>
              <a:rPr lang="fr-FR" sz="1200" b="1" dirty="0"/>
              <a:t>intégrer la sécurité à chaque étape du cycle </a:t>
            </a:r>
            <a:r>
              <a:rPr lang="fr-FR" sz="1200" b="1" dirty="0" err="1"/>
              <a:t>DevOps</a:t>
            </a:r>
            <a:r>
              <a:rPr lang="fr-FR" sz="1200" dirty="0"/>
              <a:t>, de manière automatisée, continue et partagée.</a:t>
            </a:r>
          </a:p>
          <a:p>
            <a:r>
              <a:rPr lang="fr-FR" sz="1200" b="1" dirty="0"/>
              <a:t>Principes fondateurs</a:t>
            </a:r>
          </a:p>
          <a:p>
            <a:pPr lvl="1"/>
            <a:r>
              <a:rPr lang="fr-FR" sz="1200" b="1" dirty="0"/>
              <a:t>Security by Design</a:t>
            </a:r>
            <a:r>
              <a:rPr lang="fr-FR" sz="1200" dirty="0"/>
              <a:t> : la sécurité est pensée dès la conception.</a:t>
            </a:r>
          </a:p>
          <a:p>
            <a:pPr lvl="1"/>
            <a:r>
              <a:rPr lang="fr-FR" sz="1200" b="1" dirty="0"/>
              <a:t>Shift </a:t>
            </a:r>
            <a:r>
              <a:rPr lang="fr-FR" sz="1200" b="1" dirty="0" err="1"/>
              <a:t>Left</a:t>
            </a:r>
            <a:r>
              <a:rPr lang="fr-FR" sz="1200" dirty="0"/>
              <a:t> : détecter les failles le plus tôt possible.</a:t>
            </a:r>
          </a:p>
          <a:p>
            <a:pPr lvl="1"/>
            <a:r>
              <a:rPr lang="fr-FR" sz="1200" b="1" dirty="0"/>
              <a:t>Automatisation</a:t>
            </a:r>
            <a:r>
              <a:rPr lang="fr-FR" sz="1200" dirty="0"/>
              <a:t> : la sécurité est exécutable.</a:t>
            </a:r>
          </a:p>
          <a:p>
            <a:pPr lvl="1"/>
            <a:r>
              <a:rPr lang="fr-FR" sz="1200" b="1" dirty="0"/>
              <a:t>Responsabilité partagée</a:t>
            </a:r>
            <a:r>
              <a:rPr lang="fr-FR" sz="1200" dirty="0"/>
              <a:t> : </a:t>
            </a:r>
            <a:r>
              <a:rPr lang="fr-FR" sz="1200" dirty="0" err="1"/>
              <a:t>Dev</a:t>
            </a:r>
            <a:r>
              <a:rPr lang="fr-FR" sz="1200" dirty="0"/>
              <a:t>, </a:t>
            </a:r>
            <a:r>
              <a:rPr lang="fr-FR" sz="1200" dirty="0" err="1"/>
              <a:t>Ops</a:t>
            </a:r>
            <a:r>
              <a:rPr lang="fr-FR" sz="1200" dirty="0"/>
              <a:t> et Sec collaborent.</a:t>
            </a:r>
          </a:p>
          <a:p>
            <a:pPr lvl="1"/>
            <a:r>
              <a:rPr lang="fr-FR" sz="1200" b="1" dirty="0"/>
              <a:t>Mesurabilité</a:t>
            </a:r>
            <a:r>
              <a:rPr lang="fr-FR" sz="1200" dirty="0"/>
              <a:t> : la sécurité devient observable.</a:t>
            </a:r>
          </a:p>
          <a:p>
            <a:pPr marL="316511" lvl="1" indent="0">
              <a:buNone/>
            </a:pPr>
            <a:endParaRPr lang="fr-FR" sz="1200" dirty="0"/>
          </a:p>
          <a:p>
            <a:r>
              <a:rPr lang="fr-FR" sz="1200" b="1" dirty="0" err="1"/>
              <a:t>DevSecOps</a:t>
            </a:r>
            <a:r>
              <a:rPr lang="fr-FR" sz="1200" b="1" dirty="0"/>
              <a:t> ≠ “plus de sécurité”</a:t>
            </a:r>
          </a:p>
          <a:p>
            <a:pPr lvl="1"/>
            <a:r>
              <a:rPr lang="fr-FR" sz="1200" dirty="0" err="1"/>
              <a:t>DevSecOps</a:t>
            </a:r>
            <a:r>
              <a:rPr lang="fr-FR" sz="1200" dirty="0"/>
              <a:t> = </a:t>
            </a:r>
            <a:r>
              <a:rPr lang="fr-FR" sz="1200" b="1" dirty="0"/>
              <a:t>meilleure sécurité, plus tôt, plus souvent</a:t>
            </a:r>
            <a:r>
              <a:rPr lang="fr-FR" sz="1200" dirty="0"/>
              <a:t>.</a:t>
            </a:r>
          </a:p>
          <a:p>
            <a:endParaRPr lang="fr-FR" sz="1200" dirty="0"/>
          </a:p>
          <a:p>
            <a:pPr marL="0" indent="0">
              <a:buNone/>
            </a:pPr>
            <a:r>
              <a:rPr lang="fr-FR" sz="1200" dirty="0" err="1"/>
              <a:t>DevSecOps</a:t>
            </a:r>
            <a:r>
              <a:rPr lang="fr-FR" sz="1200" dirty="0"/>
              <a:t> ne rajoute pas une couche de </a:t>
            </a:r>
            <a:r>
              <a:rPr lang="fr-FR" sz="1200" dirty="0" err="1"/>
              <a:t>sécurité,il</a:t>
            </a:r>
            <a:r>
              <a:rPr lang="fr-FR" sz="1200" dirty="0"/>
              <a:t> la rend native au processus de livraison.</a:t>
            </a:r>
          </a:p>
        </p:txBody>
      </p:sp>
    </p:spTree>
    <p:extLst>
      <p:ext uri="{BB962C8B-B14F-4D97-AF65-F5344CB8AC3E}">
        <p14:creationId xmlns:p14="http://schemas.microsoft.com/office/powerpoint/2010/main" val="3856187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1560" y="267494"/>
            <a:ext cx="8380040" cy="531900"/>
          </a:xfrm>
        </p:spPr>
        <p:txBody>
          <a:bodyPr/>
          <a:lstStyle/>
          <a:p>
            <a:r>
              <a:rPr lang="fr-FR" sz="2400" dirty="0"/>
              <a:t>Introduction au </a:t>
            </a:r>
            <a:r>
              <a:rPr lang="fr-FR" sz="2400" dirty="0" err="1"/>
              <a:t>DevSecOps</a:t>
            </a:r>
            <a:r>
              <a:rPr lang="fr-FR" sz="2400" dirty="0"/>
              <a:t> et à la Security by Design</a:t>
            </a:r>
            <a:br>
              <a:rPr lang="fr-FR" sz="2400" dirty="0"/>
            </a:br>
            <a:r>
              <a:rPr lang="fr-FR" sz="1800" dirty="0"/>
              <a:t>Security by Design : intégrer la sécurité dès l’amont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1900" y="1143000"/>
            <a:ext cx="8569700" cy="3357232"/>
          </a:xfrm>
        </p:spPr>
        <p:txBody>
          <a:bodyPr>
            <a:noAutofit/>
          </a:bodyPr>
          <a:lstStyle/>
          <a:p>
            <a:r>
              <a:rPr lang="fr-FR" b="1" dirty="0"/>
              <a:t>Qu’est-ce que la Security by Design ?</a:t>
            </a:r>
          </a:p>
          <a:p>
            <a:pPr lvl="1">
              <a:buFont typeface="Arial" pitchFamily="34" charset="0"/>
              <a:buChar char="•"/>
            </a:pPr>
            <a:r>
              <a:rPr lang="fr-FR" dirty="0"/>
              <a:t>Anticiper les risques dès :</a:t>
            </a:r>
          </a:p>
          <a:p>
            <a:pPr lvl="2">
              <a:buFont typeface="Arial" pitchFamily="34" charset="0"/>
              <a:buChar char="•"/>
            </a:pPr>
            <a:r>
              <a:rPr lang="fr-FR" dirty="0"/>
              <a:t>l’architecture,</a:t>
            </a:r>
          </a:p>
          <a:p>
            <a:pPr lvl="2">
              <a:buFont typeface="Arial" pitchFamily="34" charset="0"/>
              <a:buChar char="•"/>
            </a:pPr>
            <a:r>
              <a:rPr lang="fr-FR" dirty="0"/>
              <a:t>le code,</a:t>
            </a:r>
          </a:p>
          <a:p>
            <a:pPr lvl="2">
              <a:buFont typeface="Arial" pitchFamily="34" charset="0"/>
              <a:buChar char="•"/>
            </a:pPr>
            <a:r>
              <a:rPr lang="fr-FR" dirty="0"/>
              <a:t>les choix technologiques.</a:t>
            </a:r>
          </a:p>
          <a:p>
            <a:pPr lvl="1">
              <a:buFont typeface="Arial" pitchFamily="34" charset="0"/>
              <a:buChar char="•"/>
            </a:pPr>
            <a:r>
              <a:rPr lang="fr-FR" dirty="0"/>
              <a:t>La sécurité devient :</a:t>
            </a:r>
          </a:p>
          <a:p>
            <a:pPr lvl="2">
              <a:buFont typeface="Arial" pitchFamily="34" charset="0"/>
              <a:buChar char="•"/>
            </a:pPr>
            <a:r>
              <a:rPr lang="fr-FR" dirty="0"/>
              <a:t>un </a:t>
            </a:r>
            <a:r>
              <a:rPr lang="fr-FR" b="1" dirty="0"/>
              <a:t>critère de conception</a:t>
            </a:r>
            <a:r>
              <a:rPr lang="fr-FR" dirty="0"/>
              <a:t>,</a:t>
            </a:r>
          </a:p>
          <a:p>
            <a:pPr lvl="2">
              <a:buFont typeface="Arial" pitchFamily="34" charset="0"/>
              <a:buChar char="•"/>
            </a:pPr>
            <a:r>
              <a:rPr lang="fr-FR" dirty="0"/>
              <a:t>au même titre que la performance ou la maintenabilité.</a:t>
            </a:r>
          </a:p>
          <a:p>
            <a:pPr lvl="2">
              <a:buFont typeface="Arial" pitchFamily="34" charset="0"/>
              <a:buChar char="•"/>
            </a:pPr>
            <a:endParaRPr lang="fr-FR" dirty="0"/>
          </a:p>
          <a:p>
            <a:r>
              <a:rPr lang="fr-FR" b="1" dirty="0"/>
              <a:t>Exemples concrets</a:t>
            </a:r>
          </a:p>
          <a:p>
            <a:pPr lvl="1">
              <a:buFont typeface="Arial" pitchFamily="34" charset="0"/>
              <a:buChar char="•"/>
            </a:pPr>
            <a:r>
              <a:rPr lang="fr-FR" dirty="0"/>
              <a:t>Gestion des secrets pensée dès le départ.</a:t>
            </a:r>
          </a:p>
          <a:p>
            <a:pPr lvl="1">
              <a:buFont typeface="Arial" pitchFamily="34" charset="0"/>
              <a:buChar char="•"/>
            </a:pPr>
            <a:r>
              <a:rPr lang="fr-FR" dirty="0"/>
              <a:t>Choix d’authentification et d’autorisation intégrés.</a:t>
            </a:r>
          </a:p>
          <a:p>
            <a:pPr lvl="1">
              <a:buFont typeface="Arial" pitchFamily="34" charset="0"/>
              <a:buChar char="•"/>
            </a:pPr>
            <a:r>
              <a:rPr lang="fr-FR" dirty="0"/>
              <a:t>Séparation des responsabilités (RBAC)</a:t>
            </a:r>
          </a:p>
          <a:p>
            <a:pPr lvl="1">
              <a:buFont typeface="Arial" pitchFamily="34" charset="0"/>
              <a:buChar char="•"/>
            </a:pPr>
            <a:r>
              <a:rPr lang="fr-FR" dirty="0"/>
              <a:t>Principe du moindre privilège.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914056"/>
              </p:ext>
            </p:extLst>
          </p:nvPr>
        </p:nvGraphicFramePr>
        <p:xfrm>
          <a:off x="4682490" y="3130709"/>
          <a:ext cx="3943350" cy="1036320"/>
        </p:xfrm>
        <a:graphic>
          <a:graphicData uri="http://schemas.openxmlformats.org/drawingml/2006/table">
            <a:tbl>
              <a:tblPr/>
              <a:tblGrid>
                <a:gridCol w="19697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735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100" dirty="0"/>
                        <a:t>Sans Security by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Avec Security by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100" dirty="0"/>
                        <a:t>Rustines tardives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Architecture robuste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100"/>
                        <a:t>Audits lourds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Contrôles continus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100"/>
                        <a:t>Failles récurrentes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Réduction du risque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28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1559" y="267494"/>
            <a:ext cx="8443663" cy="531900"/>
          </a:xfrm>
        </p:spPr>
        <p:txBody>
          <a:bodyPr/>
          <a:lstStyle/>
          <a:p>
            <a:r>
              <a:rPr lang="fr-FR" sz="2400" dirty="0"/>
              <a:t>Introduction au </a:t>
            </a:r>
            <a:r>
              <a:rPr lang="fr-FR" sz="2400" dirty="0" err="1"/>
              <a:t>DevSecOps</a:t>
            </a:r>
            <a:r>
              <a:rPr lang="fr-FR" sz="2400" dirty="0"/>
              <a:t> et à la Security by Design</a:t>
            </a:r>
            <a:br>
              <a:rPr lang="fr-FR" sz="2400" dirty="0"/>
            </a:br>
            <a:r>
              <a:rPr lang="fr-FR" sz="1800" dirty="0"/>
              <a:t>Le ruban de Moebius </a:t>
            </a:r>
            <a:r>
              <a:rPr lang="fr-FR" sz="1800" dirty="0" err="1"/>
              <a:t>DevOps</a:t>
            </a:r>
            <a:r>
              <a:rPr lang="fr-FR" sz="1800" dirty="0"/>
              <a:t> et la sécurité continue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1900" y="1143000"/>
            <a:ext cx="8569700" cy="33572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200" b="1" dirty="0"/>
              <a:t>Ruban </a:t>
            </a:r>
            <a:r>
              <a:rPr lang="fr-FR" sz="1200" b="1" dirty="0" err="1"/>
              <a:t>DevOps</a:t>
            </a:r>
            <a:r>
              <a:rPr lang="fr-FR" sz="1200" b="1" dirty="0"/>
              <a:t> enrichi par la sécurité</a:t>
            </a:r>
          </a:p>
          <a:p>
            <a:r>
              <a:rPr lang="fr-FR" sz="1200" dirty="0"/>
              <a:t>La sécurité :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n’est pas une étape,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mais une </a:t>
            </a:r>
            <a:r>
              <a:rPr lang="fr-FR" sz="1200" b="1" dirty="0"/>
              <a:t>propriété continue</a:t>
            </a:r>
            <a:r>
              <a:rPr lang="fr-FR" sz="1200" dirty="0"/>
              <a:t> du cycle.</a:t>
            </a:r>
          </a:p>
          <a:p>
            <a:r>
              <a:rPr lang="fr-FR" sz="1200" dirty="0"/>
              <a:t>Chaque phase produit :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des contrôles,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des preuves,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des événements de sécurité.</a:t>
            </a:r>
          </a:p>
          <a:p>
            <a:r>
              <a:rPr lang="fr-FR" sz="1200" b="1" dirty="0"/>
              <a:t>Exemples par phase</a:t>
            </a:r>
          </a:p>
          <a:p>
            <a:pPr lvl="1">
              <a:buFont typeface="Arial" pitchFamily="34" charset="0"/>
              <a:buChar char="•"/>
            </a:pPr>
            <a:r>
              <a:rPr lang="fr-FR" sz="1200" b="1" dirty="0"/>
              <a:t>Plan</a:t>
            </a:r>
            <a:r>
              <a:rPr lang="fr-FR" sz="1200" dirty="0"/>
              <a:t> : modélisation des menaces.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b="1" dirty="0"/>
              <a:t>Code</a:t>
            </a:r>
            <a:r>
              <a:rPr lang="fr-FR" sz="1200" dirty="0"/>
              <a:t> : analyse statique.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b="1" dirty="0" err="1"/>
              <a:t>Build</a:t>
            </a:r>
            <a:r>
              <a:rPr lang="fr-FR" sz="1200" dirty="0"/>
              <a:t> : scan des dépendances.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b="1" dirty="0" err="1"/>
              <a:t>Deploy</a:t>
            </a:r>
            <a:r>
              <a:rPr lang="fr-FR" sz="1200" dirty="0"/>
              <a:t> : </a:t>
            </a:r>
            <a:r>
              <a:rPr lang="fr-FR" sz="1200" dirty="0" err="1"/>
              <a:t>policy</a:t>
            </a:r>
            <a:r>
              <a:rPr lang="fr-FR" sz="1200" dirty="0"/>
              <a:t> as code.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b="1" dirty="0" err="1"/>
              <a:t>Run</a:t>
            </a:r>
            <a:r>
              <a:rPr lang="fr-FR" sz="1200" dirty="0"/>
              <a:t> : détection </a:t>
            </a:r>
            <a:r>
              <a:rPr lang="fr-FR" sz="1200" dirty="0" err="1"/>
              <a:t>runtime</a:t>
            </a:r>
            <a:r>
              <a:rPr lang="fr-FR" sz="1200" dirty="0"/>
              <a:t>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b="1" dirty="0"/>
              <a:t>Observe</a:t>
            </a:r>
            <a:r>
              <a:rPr lang="fr-FR" sz="1200" dirty="0"/>
              <a:t> : SIEM.</a:t>
            </a:r>
          </a:p>
          <a:p>
            <a:pPr marL="0" indent="0">
              <a:buNone/>
            </a:pPr>
            <a:r>
              <a:rPr lang="fr-FR" sz="1200" dirty="0"/>
              <a:t>La sécurité suit le même cycle que le logiciel.</a:t>
            </a: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579" y="1661158"/>
            <a:ext cx="5260240" cy="2824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7441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1559" y="267494"/>
            <a:ext cx="8452541" cy="531900"/>
          </a:xfrm>
        </p:spPr>
        <p:txBody>
          <a:bodyPr/>
          <a:lstStyle/>
          <a:p>
            <a:r>
              <a:rPr lang="fr-FR" sz="2400" dirty="0"/>
              <a:t>Introduction au </a:t>
            </a:r>
            <a:r>
              <a:rPr lang="fr-FR" sz="2400" dirty="0" err="1"/>
              <a:t>DevSecOps</a:t>
            </a:r>
            <a:r>
              <a:rPr lang="fr-FR" sz="2400" dirty="0"/>
              <a:t> et à la Security by Design</a:t>
            </a:r>
            <a:br>
              <a:rPr lang="fr-FR" sz="2400" dirty="0"/>
            </a:br>
            <a:r>
              <a:rPr lang="fr-FR" sz="1800" dirty="0"/>
              <a:t>Les anti-patterns </a:t>
            </a:r>
            <a:r>
              <a:rPr lang="fr-FR" sz="1800" dirty="0" err="1"/>
              <a:t>DevSecOps</a:t>
            </a:r>
            <a:endParaRPr lang="fr-FR" sz="1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1900" y="1143000"/>
            <a:ext cx="8569700" cy="3357232"/>
          </a:xfrm>
        </p:spPr>
        <p:txBody>
          <a:bodyPr>
            <a:noAutofit/>
          </a:bodyPr>
          <a:lstStyle/>
          <a:p>
            <a:endParaRPr lang="fr-FR" dirty="0"/>
          </a:p>
          <a:p>
            <a:r>
              <a:rPr lang="fr-FR" dirty="0"/>
              <a:t>Quand </a:t>
            </a:r>
            <a:r>
              <a:rPr lang="fr-FR" dirty="0" err="1"/>
              <a:t>DevSecOps</a:t>
            </a:r>
            <a:r>
              <a:rPr lang="fr-FR" dirty="0"/>
              <a:t> échoue :</a:t>
            </a:r>
          </a:p>
          <a:p>
            <a:pPr lvl="1"/>
            <a:r>
              <a:rPr lang="fr-FR" dirty="0"/>
              <a:t>Sécurité ajoutée uniquement en CI</a:t>
            </a:r>
          </a:p>
          <a:p>
            <a:pPr lvl="1"/>
            <a:r>
              <a:rPr lang="fr-FR" dirty="0"/>
              <a:t>Équipe sécurité vue comme un goulot</a:t>
            </a:r>
          </a:p>
          <a:p>
            <a:pPr lvl="1"/>
            <a:r>
              <a:rPr lang="fr-FR" dirty="0"/>
              <a:t>Trop de règles non contextualisées</a:t>
            </a:r>
          </a:p>
          <a:p>
            <a:pPr lvl="1"/>
            <a:r>
              <a:rPr lang="fr-FR" dirty="0"/>
              <a:t>Alertes sécurité ignorées</a:t>
            </a:r>
          </a:p>
          <a:p>
            <a:pPr lvl="1"/>
            <a:r>
              <a:rPr lang="fr-FR" dirty="0"/>
              <a:t>Conformité traitée comme un audit final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r>
              <a:rPr lang="fr-FR" dirty="0" err="1"/>
              <a:t>DevSecOps</a:t>
            </a:r>
            <a:r>
              <a:rPr lang="fr-FR" dirty="0"/>
              <a:t> ne consiste pas à tout bloquer, mais à rendre le risque visible et maîtrisable</a:t>
            </a:r>
          </a:p>
          <a:p>
            <a:r>
              <a:rPr lang="fr-FR" dirty="0"/>
              <a:t>La gestion du risque est partie intégrante de l'application</a:t>
            </a:r>
          </a:p>
          <a:p>
            <a:pPr lvl="1"/>
            <a:r>
              <a:rPr lang="fr-FR" dirty="0"/>
              <a:t>Elle est gérée dans le code</a:t>
            </a:r>
          </a:p>
          <a:p>
            <a:pPr lvl="1"/>
            <a:r>
              <a:rPr lang="fr-FR" dirty="0"/>
              <a:t>Elle évolue avec l'application</a:t>
            </a:r>
          </a:p>
        </p:txBody>
      </p:sp>
    </p:spTree>
    <p:extLst>
      <p:ext uri="{BB962C8B-B14F-4D97-AF65-F5344CB8AC3E}">
        <p14:creationId xmlns:p14="http://schemas.microsoft.com/office/powerpoint/2010/main" val="2264686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1559" y="276372"/>
            <a:ext cx="8443663" cy="531900"/>
          </a:xfrm>
        </p:spPr>
        <p:txBody>
          <a:bodyPr/>
          <a:lstStyle/>
          <a:p>
            <a:r>
              <a:rPr lang="fr-FR" sz="2400" dirty="0"/>
              <a:t>Introduction au </a:t>
            </a:r>
            <a:r>
              <a:rPr lang="fr-FR" sz="2400" dirty="0" err="1"/>
              <a:t>DevSecOps</a:t>
            </a:r>
            <a:r>
              <a:rPr lang="fr-FR" sz="2400" dirty="0"/>
              <a:t> et à la Security by Design</a:t>
            </a:r>
            <a:br>
              <a:rPr lang="fr-FR" sz="2400" dirty="0"/>
            </a:br>
            <a:r>
              <a:rPr lang="fr-FR" sz="1800" dirty="0"/>
              <a:t>Bénéfices et impacts du </a:t>
            </a:r>
            <a:r>
              <a:rPr lang="fr-FR" sz="1800" dirty="0" err="1"/>
              <a:t>DevSecOps</a:t>
            </a:r>
            <a:endParaRPr lang="fr-FR" sz="1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1900" y="1143000"/>
            <a:ext cx="8569700" cy="3357232"/>
          </a:xfrm>
        </p:spPr>
        <p:txBody>
          <a:bodyPr>
            <a:noAutofit/>
          </a:bodyPr>
          <a:lstStyle/>
          <a:p>
            <a:r>
              <a:rPr lang="fr-FR" sz="1200" b="1" dirty="0"/>
              <a:t>Bénéfices techniques</a:t>
            </a:r>
          </a:p>
          <a:p>
            <a:pPr lvl="1">
              <a:buFont typeface="Arial" pitchFamily="34" charset="0"/>
              <a:buChar char="•"/>
            </a:pPr>
            <a:r>
              <a:rPr lang="fr-FR" sz="1096" dirty="0"/>
              <a:t>Vulnérabilités détectées plus tôt.</a:t>
            </a:r>
          </a:p>
          <a:p>
            <a:pPr lvl="1">
              <a:buFont typeface="Arial" pitchFamily="34" charset="0"/>
              <a:buChar char="•"/>
            </a:pPr>
            <a:r>
              <a:rPr lang="fr-FR" sz="1096" dirty="0"/>
              <a:t>Moins de correctifs d’urgence.</a:t>
            </a:r>
          </a:p>
          <a:p>
            <a:pPr lvl="1">
              <a:buFont typeface="Arial" pitchFamily="34" charset="0"/>
              <a:buChar char="•"/>
            </a:pPr>
            <a:r>
              <a:rPr lang="fr-FR" sz="1096" dirty="0"/>
              <a:t>Meilleure résilience des systèmes.</a:t>
            </a:r>
          </a:p>
          <a:p>
            <a:pPr lvl="1">
              <a:buFont typeface="Arial" pitchFamily="34" charset="0"/>
              <a:buChar char="•"/>
            </a:pPr>
            <a:r>
              <a:rPr lang="fr-FR" sz="1096" dirty="0"/>
              <a:t>Déploiements plus sûrs.</a:t>
            </a:r>
          </a:p>
          <a:p>
            <a:pPr lvl="1">
              <a:buFont typeface="Arial" pitchFamily="34" charset="0"/>
              <a:buChar char="•"/>
            </a:pPr>
            <a:endParaRPr lang="fr-FR" sz="1096" dirty="0"/>
          </a:p>
          <a:p>
            <a:r>
              <a:rPr lang="fr-FR" sz="1200" b="1" dirty="0"/>
              <a:t>Bénéfices organisationnels</a:t>
            </a:r>
          </a:p>
          <a:p>
            <a:pPr lvl="1">
              <a:buFont typeface="Arial" pitchFamily="34" charset="0"/>
              <a:buChar char="•"/>
            </a:pPr>
            <a:r>
              <a:rPr lang="fr-FR" sz="1096" dirty="0"/>
              <a:t>Collaboration renforcée </a:t>
            </a:r>
            <a:r>
              <a:rPr lang="fr-FR" sz="1096" dirty="0" err="1"/>
              <a:t>Dev</a:t>
            </a:r>
            <a:r>
              <a:rPr lang="fr-FR" sz="1096" dirty="0"/>
              <a:t> / </a:t>
            </a:r>
            <a:r>
              <a:rPr lang="fr-FR" sz="1096" dirty="0" err="1"/>
              <a:t>Ops</a:t>
            </a:r>
            <a:r>
              <a:rPr lang="fr-FR" sz="1096" dirty="0"/>
              <a:t> / Sec.</a:t>
            </a:r>
          </a:p>
          <a:p>
            <a:pPr lvl="1">
              <a:buFont typeface="Arial" pitchFamily="34" charset="0"/>
              <a:buChar char="•"/>
            </a:pPr>
            <a:r>
              <a:rPr lang="fr-FR" sz="1096" dirty="0"/>
              <a:t>Réduction des conflits et des silos.</a:t>
            </a:r>
          </a:p>
          <a:p>
            <a:pPr lvl="1">
              <a:buFont typeface="Arial" pitchFamily="34" charset="0"/>
              <a:buChar char="•"/>
            </a:pPr>
            <a:r>
              <a:rPr lang="fr-FR" sz="1096" dirty="0"/>
              <a:t>Traçabilité et audit automatisés.</a:t>
            </a:r>
          </a:p>
          <a:p>
            <a:pPr lvl="1">
              <a:buFont typeface="Arial" pitchFamily="34" charset="0"/>
              <a:buChar char="•"/>
            </a:pPr>
            <a:r>
              <a:rPr lang="fr-FR" sz="1096" dirty="0"/>
              <a:t>Conformité continue.</a:t>
            </a:r>
          </a:p>
          <a:p>
            <a:pPr lvl="1">
              <a:buFont typeface="Arial" pitchFamily="34" charset="0"/>
              <a:buChar char="•"/>
            </a:pPr>
            <a:r>
              <a:rPr lang="fr-FR" sz="1096" dirty="0"/>
              <a:t>Confiance</a:t>
            </a:r>
          </a:p>
          <a:p>
            <a:pPr lvl="1"/>
            <a:endParaRPr lang="fr-FR" sz="1096" dirty="0"/>
          </a:p>
          <a:p>
            <a:pPr marL="0" indent="0">
              <a:buNone/>
            </a:pPr>
            <a:r>
              <a:rPr lang="fr-FR" sz="1200" dirty="0"/>
              <a:t>👉 </a:t>
            </a:r>
            <a:r>
              <a:rPr lang="fr-FR" sz="1200" dirty="0" err="1"/>
              <a:t>DevSecOps</a:t>
            </a:r>
            <a:r>
              <a:rPr lang="fr-FR" sz="1200" dirty="0"/>
              <a:t> aligne </a:t>
            </a:r>
            <a:r>
              <a:rPr lang="fr-FR" sz="1200" b="1" dirty="0"/>
              <a:t>vitesse, fiabilité et sécurité</a:t>
            </a:r>
            <a:r>
              <a:rPr lang="fr-FR" sz="1200" dirty="0"/>
              <a:t>, c’est la condition pour livrer vite </a:t>
            </a:r>
            <a:r>
              <a:rPr lang="fr-FR" sz="1200" b="1" dirty="0"/>
              <a:t>et</a:t>
            </a:r>
            <a:r>
              <a:rPr lang="fr-FR" sz="1200" dirty="0"/>
              <a:t> en confiance.”</a:t>
            </a:r>
          </a:p>
        </p:txBody>
      </p:sp>
    </p:spTree>
    <p:extLst>
      <p:ext uri="{BB962C8B-B14F-4D97-AF65-F5344CB8AC3E}">
        <p14:creationId xmlns:p14="http://schemas.microsoft.com/office/powerpoint/2010/main" val="4175982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Sécurité dans la CI (code, dépendances, artefacts)</a:t>
            </a:r>
            <a:br>
              <a:rPr lang="fr-FR" sz="2400" dirty="0"/>
            </a:br>
            <a:r>
              <a:rPr lang="fr-FR" sz="1800" dirty="0"/>
              <a:t>Pourquoi sécuriser dès l’intégration continue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1900" y="1143000"/>
            <a:ext cx="8569700" cy="3357232"/>
          </a:xfrm>
        </p:spPr>
        <p:txBody>
          <a:bodyPr>
            <a:noAutofit/>
          </a:bodyPr>
          <a:lstStyle/>
          <a:p>
            <a:r>
              <a:rPr lang="fr-FR" b="1" dirty="0"/>
              <a:t>Rôle stratégique de la CI</a:t>
            </a:r>
          </a:p>
          <a:p>
            <a:pPr lvl="1">
              <a:buFont typeface="Arial" pitchFamily="34" charset="0"/>
              <a:buChar char="•"/>
            </a:pPr>
            <a:r>
              <a:rPr lang="fr-FR" dirty="0"/>
              <a:t>Chaque commit passe par la CI.</a:t>
            </a:r>
          </a:p>
          <a:p>
            <a:pPr lvl="1">
              <a:buFont typeface="Arial" pitchFamily="34" charset="0"/>
              <a:buChar char="•"/>
            </a:pPr>
            <a:r>
              <a:rPr lang="fr-FR" dirty="0"/>
              <a:t>La CI est :</a:t>
            </a:r>
          </a:p>
          <a:p>
            <a:pPr lvl="2">
              <a:buFont typeface="Arial" pitchFamily="34" charset="0"/>
              <a:buChar char="•"/>
            </a:pPr>
            <a:r>
              <a:rPr lang="fr-FR" dirty="0"/>
              <a:t>automatisée,</a:t>
            </a:r>
          </a:p>
          <a:p>
            <a:pPr lvl="2">
              <a:buFont typeface="Arial" pitchFamily="34" charset="0"/>
              <a:buChar char="•"/>
            </a:pPr>
            <a:r>
              <a:rPr lang="fr-FR" dirty="0"/>
              <a:t>reproductible,</a:t>
            </a:r>
          </a:p>
          <a:p>
            <a:pPr lvl="2">
              <a:buFont typeface="Arial" pitchFamily="34" charset="0"/>
              <a:buChar char="•"/>
            </a:pPr>
            <a:r>
              <a:rPr lang="fr-FR" dirty="0"/>
              <a:t>traçable.</a:t>
            </a:r>
          </a:p>
          <a:p>
            <a:pPr lvl="1">
              <a:buFont typeface="Arial" pitchFamily="34" charset="0"/>
              <a:buChar char="•"/>
            </a:pPr>
            <a:r>
              <a:rPr lang="fr-FR" dirty="0"/>
              <a:t>Elle constitue un </a:t>
            </a:r>
            <a:r>
              <a:rPr lang="fr-FR" b="1" dirty="0"/>
              <a:t>point de contrôle central</a:t>
            </a:r>
            <a:r>
              <a:rPr lang="fr-FR" dirty="0"/>
              <a:t>.</a:t>
            </a:r>
          </a:p>
          <a:p>
            <a:pPr marL="316511" lvl="1" indent="0">
              <a:buNone/>
            </a:pPr>
            <a:endParaRPr lang="fr-FR" dirty="0"/>
          </a:p>
          <a:p>
            <a:r>
              <a:rPr lang="fr-FR" b="1" dirty="0"/>
              <a:t>Bénéfices du Shift </a:t>
            </a:r>
            <a:r>
              <a:rPr lang="fr-FR" b="1" dirty="0" err="1"/>
              <a:t>Left</a:t>
            </a:r>
            <a:endParaRPr lang="fr-FR" b="1" dirty="0"/>
          </a:p>
          <a:p>
            <a:pPr lvl="1">
              <a:buFont typeface="Arial" pitchFamily="34" charset="0"/>
              <a:buChar char="•"/>
            </a:pPr>
            <a:r>
              <a:rPr lang="fr-FR" dirty="0"/>
              <a:t>Détection précoce des vulnérabilités.</a:t>
            </a:r>
          </a:p>
          <a:p>
            <a:pPr lvl="1">
              <a:buFont typeface="Arial" pitchFamily="34" charset="0"/>
              <a:buChar char="•"/>
            </a:pPr>
            <a:r>
              <a:rPr lang="fr-FR" dirty="0"/>
              <a:t>Coût de correction réduit.</a:t>
            </a:r>
          </a:p>
          <a:p>
            <a:pPr lvl="1">
              <a:buFont typeface="Arial" pitchFamily="34" charset="0"/>
              <a:buChar char="•"/>
            </a:pPr>
            <a:r>
              <a:rPr lang="fr-FR" dirty="0"/>
              <a:t>Feedback rapide aux développeurs.</a:t>
            </a:r>
          </a:p>
          <a:p>
            <a:pPr lvl="1">
              <a:buFont typeface="Arial" pitchFamily="34" charset="0"/>
              <a:buChar char="•"/>
            </a:pPr>
            <a:r>
              <a:rPr lang="fr-FR" dirty="0"/>
              <a:t>Éviter la propagation de failles vers la CD et la </a:t>
            </a:r>
            <a:r>
              <a:rPr lang="fr-FR" dirty="0" err="1"/>
              <a:t>prod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dirty="0"/>
              <a:t>👉 Une faille bloquée en CI est une faille </a:t>
            </a:r>
            <a:r>
              <a:rPr lang="fr-FR" b="1" dirty="0"/>
              <a:t>qui n’atteint jamais la production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8255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Sécurité dans la CI (code, dépendances, artefacts)</a:t>
            </a:r>
            <a:br>
              <a:rPr lang="fr-FR" sz="2400" dirty="0"/>
            </a:br>
            <a:r>
              <a:rPr lang="fr-FR" sz="1800" dirty="0"/>
              <a:t>Sécurité du code : SAST et bonnes pratiques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1900" y="1143000"/>
            <a:ext cx="8569700" cy="3357232"/>
          </a:xfrm>
        </p:spPr>
        <p:txBody>
          <a:bodyPr>
            <a:noAutofit/>
          </a:bodyPr>
          <a:lstStyle/>
          <a:p>
            <a:r>
              <a:rPr lang="fr-FR" sz="1200" b="1" dirty="0"/>
              <a:t>SAST – </a:t>
            </a:r>
            <a:r>
              <a:rPr lang="fr-FR" sz="1200" b="1" dirty="0" err="1"/>
              <a:t>Static</a:t>
            </a:r>
            <a:r>
              <a:rPr lang="fr-FR" sz="1200" b="1" dirty="0"/>
              <a:t> Application Security </a:t>
            </a:r>
            <a:r>
              <a:rPr lang="fr-FR" sz="1200" b="1" dirty="0" err="1"/>
              <a:t>Testing</a:t>
            </a:r>
            <a:endParaRPr lang="fr-FR" sz="1200" b="1" dirty="0"/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Analyse du code </a:t>
            </a:r>
            <a:r>
              <a:rPr lang="fr-FR" sz="1200" b="1" dirty="0"/>
              <a:t>sans l’exécuter</a:t>
            </a:r>
            <a:r>
              <a:rPr lang="fr-FR" sz="1200" dirty="0"/>
              <a:t>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Détecte :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injections SQL,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XSS,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erreurs de gestion des entrées,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mauvaises pratiques de sécurité.</a:t>
            </a:r>
          </a:p>
          <a:p>
            <a:r>
              <a:rPr lang="fr-FR" sz="1200" b="1" dirty="0"/>
              <a:t>Outils courants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 err="1"/>
              <a:t>Semgrep</a:t>
            </a:r>
            <a:endParaRPr lang="fr-FR" sz="1200" dirty="0"/>
          </a:p>
          <a:p>
            <a:pPr lvl="1">
              <a:buFont typeface="Arial" pitchFamily="34" charset="0"/>
              <a:buChar char="•"/>
            </a:pPr>
            <a:r>
              <a:rPr lang="fr-FR" sz="1200" dirty="0" err="1"/>
              <a:t>SonarQube</a:t>
            </a:r>
            <a:endParaRPr lang="fr-FR" sz="1200" dirty="0"/>
          </a:p>
          <a:p>
            <a:pPr lvl="1">
              <a:buFont typeface="Arial" pitchFamily="34" charset="0"/>
              <a:buChar char="•"/>
            </a:pPr>
            <a:r>
              <a:rPr lang="fr-FR" sz="1200" dirty="0" err="1"/>
              <a:t>GitLab</a:t>
            </a:r>
            <a:r>
              <a:rPr lang="fr-FR" sz="1200" dirty="0"/>
              <a:t> SAST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 err="1"/>
              <a:t>Checkmarx</a:t>
            </a:r>
            <a:endParaRPr lang="fr-FR" sz="1200" dirty="0"/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5013960" y="1470660"/>
            <a:ext cx="3977640" cy="30295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7384" indent="-237384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9597"/>
              </a:buClr>
              <a:buSzPct val="100000"/>
              <a:buFont typeface="Arial" panose="020B0604020202020204" pitchFamily="34" charset="0"/>
              <a:buChar char="►"/>
              <a:defRPr sz="1350" b="0" kern="1200" baseline="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1pPr>
            <a:lvl2pPr marL="514331" indent="-19782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Tx/>
              <a:buSzPct val="75000"/>
              <a:buFont typeface="Arial" panose="020B0604020202020204" pitchFamily="34" charset="0"/>
              <a:buChar char="►"/>
              <a:defRPr sz="1246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2pPr>
            <a:lvl3pPr marL="791279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597"/>
              </a:buClr>
              <a:buSzPct val="60000"/>
              <a:buFont typeface="Wingdings" pitchFamily="2" charset="2"/>
              <a:buChar char=""/>
              <a:defRPr sz="1108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3pPr>
            <a:lvl4pPr marL="1107791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tx1">
                  <a:lumMod val="75000"/>
                </a:schemeClr>
              </a:buClr>
              <a:buFont typeface="Wingdings" charset="2"/>
              <a:buChar char="§"/>
              <a:defRPr sz="1108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4pPr>
            <a:lvl5pPr marL="1424303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597"/>
              </a:buClr>
              <a:buFont typeface="Wingdings" charset="2"/>
              <a:buChar char="§"/>
              <a:defRPr sz="1108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b="1" dirty="0"/>
              <a:t>Bonnes pratiques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Analyse à chaque commit.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Règles adaptées au langage.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Résultats intégrés aux </a:t>
            </a:r>
            <a:r>
              <a:rPr lang="fr-FR" sz="1200" dirty="0" err="1"/>
              <a:t>Merge</a:t>
            </a:r>
            <a:r>
              <a:rPr lang="fr-FR" sz="1200" dirty="0"/>
              <a:t> </a:t>
            </a:r>
            <a:r>
              <a:rPr lang="fr-FR" sz="1200" dirty="0" err="1"/>
              <a:t>Requests</a:t>
            </a:r>
            <a:r>
              <a:rPr lang="fr-FR" sz="1200" dirty="0"/>
              <a:t>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Priorisation des vulnérabilités critiques.</a:t>
            </a:r>
          </a:p>
          <a:p>
            <a:r>
              <a:rPr lang="fr-FR" sz="1200" b="1" dirty="0"/>
              <a:t>Limites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Faux positifs possibles.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Complémentaire des autres scans.</a:t>
            </a:r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r>
              <a:rPr lang="fr-FR" sz="1200" dirty="0"/>
              <a:t>“Le SAST ne remplace pas un expert sécurité,</a:t>
            </a:r>
            <a:br>
              <a:rPr lang="fr-FR" sz="1200" dirty="0"/>
            </a:br>
            <a:r>
              <a:rPr lang="fr-FR" sz="1200" dirty="0"/>
              <a:t>mais il empêche les erreurs évidentes de passer.”</a:t>
            </a:r>
          </a:p>
        </p:txBody>
      </p:sp>
    </p:spTree>
    <p:extLst>
      <p:ext uri="{BB962C8B-B14F-4D97-AF65-F5344CB8AC3E}">
        <p14:creationId xmlns:p14="http://schemas.microsoft.com/office/powerpoint/2010/main" val="3138504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Sécurité dans la CI (code, dépendances, artefacts)</a:t>
            </a:r>
            <a:br>
              <a:rPr lang="fr-FR" sz="2400" dirty="0"/>
            </a:br>
            <a:r>
              <a:rPr lang="fr-FR" sz="1800" dirty="0"/>
              <a:t>Sécurité des dépendances : SCA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1900" y="1143000"/>
            <a:ext cx="8569700" cy="3357232"/>
          </a:xfrm>
        </p:spPr>
        <p:txBody>
          <a:bodyPr>
            <a:noAutofit/>
          </a:bodyPr>
          <a:lstStyle/>
          <a:p>
            <a:r>
              <a:rPr lang="fr-FR" sz="1200" b="1" dirty="0"/>
              <a:t>Le problème des dépendances</a:t>
            </a:r>
          </a:p>
          <a:p>
            <a:pPr lvl="1"/>
            <a:r>
              <a:rPr lang="fr-FR" sz="1200" dirty="0"/>
              <a:t>La majorité du code est :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open source,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externe à l’équipe.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Risques :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vulnérabilités connues,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dépendances obsolètes,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licences non conformes.</a:t>
            </a:r>
          </a:p>
          <a:p>
            <a:r>
              <a:rPr lang="fr-FR" sz="1200" b="1" dirty="0"/>
              <a:t>SCA – Software Composition </a:t>
            </a:r>
            <a:r>
              <a:rPr lang="fr-FR" sz="1200" b="1" dirty="0" err="1"/>
              <a:t>Analysis</a:t>
            </a:r>
            <a:endParaRPr lang="fr-FR" sz="1200" b="1" dirty="0"/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Analyse des dépendances déclarées.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Compare avec des bases CVE </a:t>
            </a:r>
            <a:br>
              <a:rPr lang="fr-FR" sz="1200" dirty="0"/>
            </a:br>
            <a:r>
              <a:rPr lang="fr-FR" sz="1200" dirty="0"/>
              <a:t>(Common </a:t>
            </a:r>
            <a:r>
              <a:rPr lang="fr-FR" sz="1200" dirty="0" err="1"/>
              <a:t>Vulnerabilities</a:t>
            </a:r>
            <a:r>
              <a:rPr lang="fr-FR" sz="1200" dirty="0"/>
              <a:t> and </a:t>
            </a:r>
            <a:r>
              <a:rPr lang="fr-FR" sz="1200" dirty="0" err="1"/>
              <a:t>Exposures</a:t>
            </a:r>
            <a:r>
              <a:rPr lang="fr-FR" sz="1200" dirty="0"/>
              <a:t>).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Détecte :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failles connues,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versions vulnérables,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conflits de licences.</a:t>
            </a:r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5013960" y="1470660"/>
            <a:ext cx="3977640" cy="30295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7384" indent="-237384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9597"/>
              </a:buClr>
              <a:buSzPct val="100000"/>
              <a:buFont typeface="Arial" panose="020B0604020202020204" pitchFamily="34" charset="0"/>
              <a:buChar char="►"/>
              <a:defRPr sz="1350" b="0" kern="1200" baseline="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1pPr>
            <a:lvl2pPr marL="514331" indent="-19782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Tx/>
              <a:buSzPct val="75000"/>
              <a:buFont typeface="Arial" panose="020B0604020202020204" pitchFamily="34" charset="0"/>
              <a:buChar char="►"/>
              <a:defRPr sz="1246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2pPr>
            <a:lvl3pPr marL="791279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597"/>
              </a:buClr>
              <a:buSzPct val="60000"/>
              <a:buFont typeface="Wingdings" pitchFamily="2" charset="2"/>
              <a:buChar char=""/>
              <a:defRPr sz="1108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3pPr>
            <a:lvl4pPr marL="1107791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tx1">
                  <a:lumMod val="75000"/>
                </a:schemeClr>
              </a:buClr>
              <a:buFont typeface="Wingdings" charset="2"/>
              <a:buChar char="§"/>
              <a:defRPr sz="1108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4pPr>
            <a:lvl5pPr marL="1424303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597"/>
              </a:buClr>
              <a:buFont typeface="Wingdings" charset="2"/>
              <a:buChar char="§"/>
              <a:defRPr sz="1108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b="1" dirty="0"/>
              <a:t>Outils courants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OWASP </a:t>
            </a:r>
            <a:r>
              <a:rPr lang="fr-FR" sz="1200" dirty="0" err="1"/>
              <a:t>Dependency</a:t>
            </a:r>
            <a:r>
              <a:rPr lang="fr-FR" sz="1200" dirty="0"/>
              <a:t>-Check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 err="1"/>
              <a:t>npm</a:t>
            </a:r>
            <a:r>
              <a:rPr lang="fr-FR" sz="1200" dirty="0"/>
              <a:t> audit / </a:t>
            </a:r>
            <a:r>
              <a:rPr lang="fr-FR" sz="1200" dirty="0" err="1"/>
              <a:t>yarn</a:t>
            </a:r>
            <a:r>
              <a:rPr lang="fr-FR" sz="1200" dirty="0"/>
              <a:t> audit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 err="1"/>
              <a:t>Snyk</a:t>
            </a:r>
            <a:endParaRPr lang="fr-FR" sz="1200" dirty="0"/>
          </a:p>
          <a:p>
            <a:pPr lvl="1">
              <a:buFont typeface="Arial" pitchFamily="34" charset="0"/>
              <a:buChar char="•"/>
            </a:pPr>
            <a:r>
              <a:rPr lang="fr-FR" sz="1200" dirty="0" err="1"/>
              <a:t>GitLab</a:t>
            </a:r>
            <a:r>
              <a:rPr lang="fr-FR" sz="1200" dirty="0"/>
              <a:t> </a:t>
            </a:r>
            <a:r>
              <a:rPr lang="fr-FR" sz="1200" dirty="0" err="1"/>
              <a:t>Dependency</a:t>
            </a:r>
            <a:r>
              <a:rPr lang="fr-FR" sz="1200" dirty="0"/>
              <a:t> Scanning</a:t>
            </a:r>
          </a:p>
          <a:p>
            <a:r>
              <a:rPr lang="fr-FR" sz="1200" b="1" dirty="0"/>
              <a:t>Bonnes pratiques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Scan à chaque </a:t>
            </a:r>
            <a:r>
              <a:rPr lang="fr-FR" sz="1200" dirty="0" err="1"/>
              <a:t>build</a:t>
            </a:r>
            <a:r>
              <a:rPr lang="fr-FR" sz="1200" dirty="0"/>
              <a:t>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Blocage sur vulnérabilités critiques.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Mise à jour régulière des dépendances.</a:t>
            </a:r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r>
              <a:rPr lang="fr-FR" sz="1200" dirty="0"/>
              <a:t>Une dépendance vulnérable est une faille que vous n’avez pas écrite… mais dont vous êtes responsable.</a:t>
            </a:r>
          </a:p>
        </p:txBody>
      </p:sp>
    </p:spTree>
    <p:extLst>
      <p:ext uri="{BB962C8B-B14F-4D97-AF65-F5344CB8AC3E}">
        <p14:creationId xmlns:p14="http://schemas.microsoft.com/office/powerpoint/2010/main" val="848821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Sécurité dans la CI (code, dépendances, artefacts)</a:t>
            </a:r>
            <a:br>
              <a:rPr lang="fr-FR" sz="2400" dirty="0"/>
            </a:br>
            <a:r>
              <a:rPr lang="fr-FR" sz="1800" dirty="0"/>
              <a:t>Sécurité des artefacts : intégrité et traçabilité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1900" y="1143000"/>
            <a:ext cx="8569700" cy="3357232"/>
          </a:xfrm>
        </p:spPr>
        <p:txBody>
          <a:bodyPr>
            <a:noAutofit/>
          </a:bodyPr>
          <a:lstStyle/>
          <a:p>
            <a:r>
              <a:rPr lang="fr-FR" sz="1200" b="1" dirty="0"/>
              <a:t>Qu’est-ce qu’un artefact ?</a:t>
            </a:r>
          </a:p>
          <a:p>
            <a:pPr lvl="1"/>
            <a:r>
              <a:rPr lang="fr-FR" sz="1096" dirty="0"/>
              <a:t>Binaire, package, image Docker.</a:t>
            </a:r>
          </a:p>
          <a:p>
            <a:pPr lvl="1"/>
            <a:r>
              <a:rPr lang="fr-FR" sz="1096" dirty="0"/>
              <a:t>Résultat direct du pipeline CI.</a:t>
            </a:r>
          </a:p>
          <a:p>
            <a:pPr lvl="1"/>
            <a:r>
              <a:rPr lang="fr-FR" sz="1096" dirty="0"/>
              <a:t>Base de tout déploiement ultérieur.</a:t>
            </a:r>
          </a:p>
          <a:p>
            <a:r>
              <a:rPr lang="fr-FR" sz="1200" b="1" dirty="0"/>
              <a:t>Risques associés</a:t>
            </a:r>
          </a:p>
          <a:p>
            <a:pPr lvl="1"/>
            <a:r>
              <a:rPr lang="fr-FR" sz="1096" dirty="0"/>
              <a:t>Altération de l’artefact.</a:t>
            </a:r>
          </a:p>
          <a:p>
            <a:pPr lvl="1"/>
            <a:r>
              <a:rPr lang="fr-FR" sz="1096" dirty="0"/>
              <a:t>Injection de code malveillant.</a:t>
            </a:r>
          </a:p>
          <a:p>
            <a:pPr lvl="1"/>
            <a:r>
              <a:rPr lang="fr-FR" sz="1096" dirty="0"/>
              <a:t>Perte de traçabilité.</a:t>
            </a:r>
          </a:p>
          <a:p>
            <a:r>
              <a:rPr lang="fr-FR" sz="1200" b="1" dirty="0"/>
              <a:t>Mesures de sécurité</a:t>
            </a:r>
          </a:p>
          <a:p>
            <a:pPr lvl="1"/>
            <a:r>
              <a:rPr lang="fr-FR" sz="1096" dirty="0"/>
              <a:t>Hash et checksum.</a:t>
            </a:r>
          </a:p>
          <a:p>
            <a:pPr lvl="1"/>
            <a:r>
              <a:rPr lang="fr-FR" sz="1096" dirty="0" err="1"/>
              <a:t>Versionnement</a:t>
            </a:r>
            <a:r>
              <a:rPr lang="fr-FR" sz="1096" dirty="0"/>
              <a:t> strict.</a:t>
            </a:r>
          </a:p>
          <a:p>
            <a:pPr lvl="1"/>
            <a:r>
              <a:rPr lang="fr-FR" sz="1096" dirty="0"/>
              <a:t>Stockage dans un </a:t>
            </a:r>
            <a:r>
              <a:rPr lang="fr-FR" sz="1096" dirty="0" err="1"/>
              <a:t>registry</a:t>
            </a:r>
            <a:r>
              <a:rPr lang="fr-FR" sz="1096" dirty="0"/>
              <a:t> sécurisé.</a:t>
            </a:r>
          </a:p>
          <a:p>
            <a:pPr lvl="1"/>
            <a:r>
              <a:rPr lang="fr-FR" sz="1096" dirty="0"/>
              <a:t>Accès contrôlé.</a:t>
            </a:r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r>
              <a:rPr lang="fr-FR" sz="1200" dirty="0"/>
              <a:t>👉 Un artefact non maîtrisé est une </a:t>
            </a:r>
            <a:r>
              <a:rPr lang="fr-FR" sz="1200" b="1" dirty="0"/>
              <a:t>chaîne de confiance brisée</a:t>
            </a:r>
            <a:r>
              <a:rPr lang="fr-FR" sz="1200" dirty="0"/>
              <a:t>,</a:t>
            </a:r>
            <a:r>
              <a:rPr lang="fr-FR" sz="1200" b="1" dirty="0"/>
              <a:t> o</a:t>
            </a:r>
            <a:r>
              <a:rPr lang="fr-FR" sz="1200" dirty="0"/>
              <a:t>n ne déploie que ce que l’on peut identifier et vérifier.</a:t>
            </a:r>
          </a:p>
        </p:txBody>
      </p:sp>
    </p:spTree>
    <p:extLst>
      <p:ext uri="{BB962C8B-B14F-4D97-AF65-F5344CB8AC3E}">
        <p14:creationId xmlns:p14="http://schemas.microsoft.com/office/powerpoint/2010/main" val="3992760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Sécurité dans la CI (code, dépendances, artefacts)</a:t>
            </a:r>
            <a:br>
              <a:rPr lang="fr-FR" sz="2400" dirty="0"/>
            </a:br>
            <a:r>
              <a:rPr lang="fr-FR" sz="1800" dirty="0"/>
              <a:t>Signature d’artefacts et </a:t>
            </a:r>
            <a:r>
              <a:rPr lang="fr-FR" sz="1800" dirty="0" err="1"/>
              <a:t>Supply</a:t>
            </a:r>
            <a:r>
              <a:rPr lang="fr-FR" sz="1800" dirty="0"/>
              <a:t> Chain Security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1900" y="1143000"/>
            <a:ext cx="8569700" cy="3357232"/>
          </a:xfrm>
        </p:spPr>
        <p:txBody>
          <a:bodyPr>
            <a:noAutofit/>
          </a:bodyPr>
          <a:lstStyle/>
          <a:p>
            <a:r>
              <a:rPr lang="fr-FR" sz="1200" b="1" dirty="0"/>
              <a:t>Problématique </a:t>
            </a:r>
            <a:r>
              <a:rPr lang="fr-FR" sz="1200" b="1" dirty="0" err="1"/>
              <a:t>Supply</a:t>
            </a:r>
            <a:r>
              <a:rPr lang="fr-FR" sz="1200" b="1" dirty="0"/>
              <a:t> Chain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Attaques ciblant :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pipelines CI,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dépendances,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 err="1"/>
              <a:t>registries</a:t>
            </a:r>
            <a:r>
              <a:rPr lang="fr-FR" sz="1200" dirty="0"/>
              <a:t>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Exemple : compromission d’un </a:t>
            </a:r>
            <a:r>
              <a:rPr lang="fr-FR" sz="1200" dirty="0" err="1"/>
              <a:t>build</a:t>
            </a:r>
            <a:r>
              <a:rPr lang="fr-FR" sz="1200" dirty="0"/>
              <a:t>.</a:t>
            </a:r>
          </a:p>
          <a:p>
            <a:r>
              <a:rPr lang="fr-FR" sz="1200" b="1" dirty="0"/>
              <a:t> Signature des artefacts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Garantit :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l’origine,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l’intégrité,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l’authenticité.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Outils :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 err="1"/>
              <a:t>Cosign</a:t>
            </a:r>
            <a:r>
              <a:rPr lang="fr-FR" sz="1200" dirty="0"/>
              <a:t>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GPG,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 err="1"/>
              <a:t>Sigstore</a:t>
            </a:r>
            <a:r>
              <a:rPr lang="fr-FR" sz="1200" dirty="0"/>
              <a:t>.</a:t>
            </a:r>
          </a:p>
          <a:p>
            <a:r>
              <a:rPr lang="fr-FR" sz="1200" b="1" dirty="0"/>
              <a:t>🔹</a:t>
            </a:r>
            <a:endParaRPr lang="fr-FR" sz="1200" dirty="0"/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5013960" y="1470660"/>
            <a:ext cx="3977640" cy="30295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7384" indent="-237384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9597"/>
              </a:buClr>
              <a:buSzPct val="100000"/>
              <a:buFont typeface="Arial" panose="020B0604020202020204" pitchFamily="34" charset="0"/>
              <a:buChar char="►"/>
              <a:defRPr sz="1350" b="0" kern="1200" baseline="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1pPr>
            <a:lvl2pPr marL="514331" indent="-19782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Tx/>
              <a:buSzPct val="75000"/>
              <a:buFont typeface="Arial" panose="020B0604020202020204" pitchFamily="34" charset="0"/>
              <a:buChar char="►"/>
              <a:defRPr sz="1246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2pPr>
            <a:lvl3pPr marL="791279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597"/>
              </a:buClr>
              <a:buSzPct val="60000"/>
              <a:buFont typeface="Wingdings" pitchFamily="2" charset="2"/>
              <a:buChar char=""/>
              <a:defRPr sz="1108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3pPr>
            <a:lvl4pPr marL="1107791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tx1">
                  <a:lumMod val="75000"/>
                </a:schemeClr>
              </a:buClr>
              <a:buFont typeface="Wingdings" charset="2"/>
              <a:buChar char="§"/>
              <a:defRPr sz="1108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4pPr>
            <a:lvl5pPr marL="1424303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597"/>
              </a:buClr>
              <a:buFont typeface="Wingdings" charset="2"/>
              <a:buChar char="§"/>
              <a:defRPr sz="1108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b="1" dirty="0"/>
              <a:t>SBOM (Software Bill of </a:t>
            </a:r>
            <a:r>
              <a:rPr lang="fr-FR" sz="1200" b="1" dirty="0" err="1"/>
              <a:t>Materials</a:t>
            </a:r>
            <a:r>
              <a:rPr lang="fr-FR" sz="1200" b="1" dirty="0"/>
              <a:t>)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Liste complète des composants.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Utilisée pour :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audit,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conformité,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réponse aux incidents.</a:t>
            </a:r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r>
              <a:rPr lang="fr-FR" sz="1200" dirty="0"/>
              <a:t>Signer un artefact, c’est prouver qu’on lui fait confiance</a:t>
            </a:r>
          </a:p>
        </p:txBody>
      </p:sp>
    </p:spTree>
    <p:extLst>
      <p:ext uri="{BB962C8B-B14F-4D97-AF65-F5344CB8AC3E}">
        <p14:creationId xmlns:p14="http://schemas.microsoft.com/office/powerpoint/2010/main" val="4085703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Sécurité dans la CD et le </a:t>
            </a:r>
            <a:r>
              <a:rPr lang="fr-FR" sz="2400" dirty="0" err="1"/>
              <a:t>GitOps</a:t>
            </a:r>
            <a:r>
              <a:rPr lang="fr-FR" sz="2400" dirty="0"/>
              <a:t>.</a:t>
            </a:r>
            <a:br>
              <a:rPr lang="fr-FR" sz="2400" dirty="0"/>
            </a:br>
            <a:r>
              <a:rPr lang="fr-FR" sz="1800" dirty="0"/>
              <a:t>Pourquoi la phase de déploiement est critique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1900" y="1143000"/>
            <a:ext cx="8569700" cy="3357232"/>
          </a:xfrm>
        </p:spPr>
        <p:txBody>
          <a:bodyPr>
            <a:noAutofit/>
          </a:bodyPr>
          <a:lstStyle/>
          <a:p>
            <a:r>
              <a:rPr lang="fr-FR" sz="1200" b="1" dirty="0"/>
              <a:t>Enjeux spécifiques du déploiement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La CD agit :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sur des environnements sensibles (</a:t>
            </a:r>
            <a:r>
              <a:rPr lang="fr-FR" sz="1200" dirty="0" err="1"/>
              <a:t>prod</a:t>
            </a:r>
            <a:r>
              <a:rPr lang="fr-FR" sz="1200" dirty="0"/>
              <a:t>),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avec des privilèges élevés,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à un rythme fréquent.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Une erreur ou une compromission peut :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interrompre le service,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exposer des données,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introduire un </a:t>
            </a:r>
            <a:r>
              <a:rPr lang="fr-FR" sz="1200" dirty="0" err="1"/>
              <a:t>backdoor</a:t>
            </a:r>
            <a:r>
              <a:rPr lang="fr-FR" sz="1200" dirty="0"/>
              <a:t>.</a:t>
            </a:r>
          </a:p>
          <a:p>
            <a:r>
              <a:rPr lang="fr-FR" sz="1200" b="1" dirty="0"/>
              <a:t>Risques typiques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Déploiement d’une version non validée.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Mauvaise configuration (secrets exposés).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Accès direct au cluster depuis la CI.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 err="1"/>
              <a:t>Bypass</a:t>
            </a:r>
            <a:r>
              <a:rPr lang="fr-FR" sz="1200" dirty="0"/>
              <a:t> des contrôles de sécurité.</a:t>
            </a:r>
          </a:p>
          <a:p>
            <a:pPr marL="0" indent="0">
              <a:buNone/>
            </a:pPr>
            <a:r>
              <a:rPr lang="fr-FR" sz="1200" dirty="0"/>
              <a:t>👉</a:t>
            </a:r>
            <a:r>
              <a:rPr lang="fr-FR" sz="1200" b="1" dirty="0"/>
              <a:t>Automatiser sans sécuriser, c’est industrialiser le risque, l</a:t>
            </a:r>
            <a:r>
              <a:rPr lang="fr-FR" sz="1200" dirty="0"/>
              <a:t>e déploiement est le moment où une erreur devient un incident.</a:t>
            </a:r>
          </a:p>
        </p:txBody>
      </p:sp>
    </p:spTree>
    <p:extLst>
      <p:ext uri="{BB962C8B-B14F-4D97-AF65-F5344CB8AC3E}">
        <p14:creationId xmlns:p14="http://schemas.microsoft.com/office/powerpoint/2010/main" val="1326088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Sécurité dans la CD et le </a:t>
            </a:r>
            <a:r>
              <a:rPr lang="fr-FR" sz="2400" dirty="0" err="1"/>
              <a:t>GitOps</a:t>
            </a:r>
            <a:r>
              <a:rPr lang="fr-FR" sz="2400" dirty="0"/>
              <a:t>.</a:t>
            </a:r>
            <a:br>
              <a:rPr lang="fr-FR" sz="2400" dirty="0"/>
            </a:br>
            <a:r>
              <a:rPr lang="fr-FR" sz="1800" dirty="0"/>
              <a:t>Sécurité de la CD : modèle push vs modèle </a:t>
            </a:r>
            <a:r>
              <a:rPr lang="fr-FR" sz="1800" dirty="0" err="1"/>
              <a:t>GitOps</a:t>
            </a:r>
            <a:endParaRPr lang="fr-FR" sz="1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1900" y="1143000"/>
            <a:ext cx="8569700" cy="3357232"/>
          </a:xfrm>
        </p:spPr>
        <p:txBody>
          <a:bodyPr>
            <a:noAutofit/>
          </a:bodyPr>
          <a:lstStyle/>
          <a:p>
            <a:r>
              <a:rPr lang="fr-FR" b="1" dirty="0"/>
              <a:t>CD push-</a:t>
            </a:r>
            <a:r>
              <a:rPr lang="fr-FR" b="1" dirty="0" err="1"/>
              <a:t>based</a:t>
            </a:r>
            <a:r>
              <a:rPr lang="fr-FR" b="1" dirty="0"/>
              <a:t> (historique)</a:t>
            </a:r>
          </a:p>
          <a:p>
            <a:pPr lvl="1">
              <a:buFont typeface="Arial" pitchFamily="34" charset="0"/>
              <a:buChar char="•"/>
            </a:pPr>
            <a:r>
              <a:rPr lang="fr-FR" dirty="0"/>
              <a:t>Le pipeline :</a:t>
            </a:r>
          </a:p>
          <a:p>
            <a:pPr lvl="2">
              <a:buFont typeface="Arial" pitchFamily="34" charset="0"/>
              <a:buChar char="•"/>
            </a:pPr>
            <a:r>
              <a:rPr lang="fr-FR" dirty="0"/>
              <a:t>se connecte aux serveurs / cluster,</a:t>
            </a:r>
          </a:p>
          <a:p>
            <a:pPr lvl="2">
              <a:buFont typeface="Arial" pitchFamily="34" charset="0"/>
              <a:buChar char="•"/>
            </a:pPr>
            <a:r>
              <a:rPr lang="fr-FR" dirty="0"/>
              <a:t>exécute des commandes de déploiement.</a:t>
            </a:r>
          </a:p>
          <a:p>
            <a:pPr lvl="1">
              <a:buFont typeface="Arial" pitchFamily="34" charset="0"/>
              <a:buChar char="•"/>
            </a:pPr>
            <a:r>
              <a:rPr lang="fr-FR" dirty="0"/>
              <a:t>Problèmes :</a:t>
            </a:r>
          </a:p>
          <a:p>
            <a:pPr lvl="2">
              <a:buFont typeface="Arial" pitchFamily="34" charset="0"/>
              <a:buChar char="•"/>
            </a:pPr>
            <a:r>
              <a:rPr lang="fr-FR" dirty="0"/>
              <a:t>secrets dans la CI,</a:t>
            </a:r>
          </a:p>
          <a:p>
            <a:pPr lvl="2">
              <a:buFont typeface="Arial" pitchFamily="34" charset="0"/>
              <a:buChar char="•"/>
            </a:pPr>
            <a:r>
              <a:rPr lang="fr-FR" dirty="0"/>
              <a:t>accès directs,</a:t>
            </a:r>
          </a:p>
          <a:p>
            <a:pPr lvl="2">
              <a:buFont typeface="Arial" pitchFamily="34" charset="0"/>
              <a:buChar char="•"/>
            </a:pPr>
            <a:r>
              <a:rPr lang="fr-FR" dirty="0"/>
              <a:t>traçabilité limitée.</a:t>
            </a:r>
          </a:p>
          <a:p>
            <a:r>
              <a:rPr lang="fr-FR" b="1" dirty="0"/>
              <a:t>CD </a:t>
            </a:r>
            <a:r>
              <a:rPr lang="fr-FR" b="1" dirty="0" err="1"/>
              <a:t>GitOps</a:t>
            </a:r>
            <a:r>
              <a:rPr lang="fr-FR" b="1" dirty="0"/>
              <a:t> pull-</a:t>
            </a:r>
            <a:r>
              <a:rPr lang="fr-FR" b="1" dirty="0" err="1"/>
              <a:t>based</a:t>
            </a:r>
            <a:endParaRPr lang="fr-FR" b="1" dirty="0"/>
          </a:p>
          <a:p>
            <a:pPr lvl="1">
              <a:buFont typeface="Arial" pitchFamily="34" charset="0"/>
              <a:buChar char="•"/>
            </a:pPr>
            <a:r>
              <a:rPr lang="fr-FR" dirty="0"/>
              <a:t>Le pipeline :</a:t>
            </a:r>
          </a:p>
          <a:p>
            <a:pPr lvl="2">
              <a:buFont typeface="Arial" pitchFamily="34" charset="0"/>
              <a:buChar char="•"/>
            </a:pPr>
            <a:r>
              <a:rPr lang="fr-FR" dirty="0"/>
              <a:t>modifie un dépôt Git.</a:t>
            </a:r>
          </a:p>
          <a:p>
            <a:pPr lvl="1">
              <a:buFont typeface="Arial" pitchFamily="34" charset="0"/>
              <a:buChar char="•"/>
            </a:pPr>
            <a:r>
              <a:rPr lang="fr-FR" dirty="0"/>
              <a:t>L’agent </a:t>
            </a:r>
            <a:r>
              <a:rPr lang="fr-FR" dirty="0" err="1"/>
              <a:t>GitOps</a:t>
            </a:r>
            <a:r>
              <a:rPr lang="fr-FR" dirty="0"/>
              <a:t> :</a:t>
            </a:r>
          </a:p>
          <a:p>
            <a:pPr lvl="2">
              <a:buFont typeface="Arial" pitchFamily="34" charset="0"/>
              <a:buChar char="•"/>
            </a:pPr>
            <a:r>
              <a:rPr lang="fr-FR" dirty="0"/>
              <a:t>applique l’état désiré.</a:t>
            </a:r>
          </a:p>
          <a:p>
            <a:pPr lvl="1">
              <a:buFont typeface="Arial" pitchFamily="34" charset="0"/>
              <a:buChar char="•"/>
            </a:pPr>
            <a:r>
              <a:rPr lang="fr-FR" dirty="0"/>
              <a:t>Bénéfices sécurité :</a:t>
            </a:r>
          </a:p>
          <a:p>
            <a:pPr lvl="2">
              <a:buFont typeface="Arial" pitchFamily="34" charset="0"/>
              <a:buChar char="•"/>
            </a:pPr>
            <a:r>
              <a:rPr lang="fr-FR" dirty="0"/>
              <a:t>pas d’accès cluster depuis la CI,</a:t>
            </a:r>
          </a:p>
          <a:p>
            <a:pPr lvl="2">
              <a:buFont typeface="Arial" pitchFamily="34" charset="0"/>
              <a:buChar char="•"/>
            </a:pPr>
            <a:r>
              <a:rPr lang="fr-FR" dirty="0"/>
              <a:t>Git comme point de contrôle,</a:t>
            </a:r>
          </a:p>
          <a:p>
            <a:pPr lvl="2">
              <a:buFont typeface="Arial" pitchFamily="34" charset="0"/>
              <a:buChar char="•"/>
            </a:pPr>
            <a:r>
              <a:rPr lang="fr-FR" dirty="0"/>
              <a:t>audit natif.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255749"/>
              </p:ext>
            </p:extLst>
          </p:nvPr>
        </p:nvGraphicFramePr>
        <p:xfrm>
          <a:off x="3958590" y="3238500"/>
          <a:ext cx="4911090" cy="1386840"/>
        </p:xfrm>
        <a:graphic>
          <a:graphicData uri="http://schemas.openxmlformats.org/drawingml/2006/table">
            <a:tbl>
              <a:tblPr/>
              <a:tblGrid>
                <a:gridCol w="10172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612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69399">
                <a:tc>
                  <a:txBody>
                    <a:bodyPr/>
                    <a:lstStyle/>
                    <a:p>
                      <a:r>
                        <a:rPr lang="fr-FR" sz="1100" b="1" dirty="0"/>
                        <a:t>Critère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b="1"/>
                        <a:t>Push-based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b="1" dirty="0" err="1"/>
                        <a:t>GitOps</a:t>
                      </a:r>
                      <a:endParaRPr lang="fr-F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0201">
                <a:tc>
                  <a:txBody>
                    <a:bodyPr/>
                    <a:lstStyle/>
                    <a:p>
                      <a:r>
                        <a:rPr lang="fr-FR" sz="1100" dirty="0"/>
                        <a:t>Accès infra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CI → 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Agent interne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100"/>
                        <a:t>Secrets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CI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100"/>
                        <a:t>Audit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Logs CI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Git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100" dirty="0" err="1"/>
                        <a:t>Rollback</a:t>
                      </a:r>
                      <a:endParaRPr lang="fr-F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Script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git </a:t>
                      </a:r>
                      <a:r>
                        <a:rPr lang="fr-FR" sz="1100" dirty="0" err="1"/>
                        <a:t>revert</a:t>
                      </a:r>
                      <a:endParaRPr lang="fr-F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3069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Sécurité dans la CD et le </a:t>
            </a:r>
            <a:r>
              <a:rPr lang="fr-FR" sz="2400" dirty="0" err="1"/>
              <a:t>GitOps</a:t>
            </a:r>
            <a:r>
              <a:rPr lang="fr-FR" sz="2400" dirty="0"/>
              <a:t>.</a:t>
            </a:r>
            <a:br>
              <a:rPr lang="fr-FR" sz="2400" dirty="0"/>
            </a:br>
            <a:r>
              <a:rPr lang="fr-FR" sz="1800" dirty="0"/>
              <a:t>Sécurisation des </a:t>
            </a:r>
            <a:r>
              <a:rPr lang="fr-FR" sz="1800" dirty="0" err="1"/>
              <a:t>manifests</a:t>
            </a:r>
            <a:r>
              <a:rPr lang="fr-FR" sz="1800" dirty="0"/>
              <a:t> et configurations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1900" y="1143000"/>
            <a:ext cx="8569700" cy="3357232"/>
          </a:xfrm>
        </p:spPr>
        <p:txBody>
          <a:bodyPr>
            <a:noAutofit/>
          </a:bodyPr>
          <a:lstStyle/>
          <a:p>
            <a:r>
              <a:rPr lang="fr-FR" sz="1200" b="1" dirty="0"/>
              <a:t>Risques liés aux </a:t>
            </a:r>
            <a:r>
              <a:rPr lang="fr-FR" sz="1200" b="1" dirty="0" err="1"/>
              <a:t>manifests</a:t>
            </a:r>
            <a:endParaRPr lang="fr-FR" sz="1200" b="1" dirty="0"/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Conteneur en </a:t>
            </a:r>
            <a:r>
              <a:rPr lang="fr-FR" sz="1200" dirty="0" err="1"/>
              <a:t>root</a:t>
            </a:r>
            <a:r>
              <a:rPr lang="fr-FR" sz="1200" dirty="0"/>
              <a:t>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Ressources illimitées.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Volumes ou privilèges excessifs.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Secrets en clair.</a:t>
            </a:r>
          </a:p>
          <a:p>
            <a:r>
              <a:rPr lang="fr-FR" sz="1200" b="1" dirty="0"/>
              <a:t>Bonnes pratiques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Configuration déclarative </a:t>
            </a:r>
            <a:r>
              <a:rPr lang="fr-FR" sz="1200" dirty="0" err="1"/>
              <a:t>versionnée</a:t>
            </a:r>
            <a:r>
              <a:rPr lang="fr-FR" sz="1200" dirty="0"/>
              <a:t>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Séparation :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 err="1"/>
              <a:t>manifests</a:t>
            </a:r>
            <a:r>
              <a:rPr lang="fr-FR" sz="1200" dirty="0"/>
              <a:t> applicatifs,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secrets.</a:t>
            </a:r>
          </a:p>
          <a:p>
            <a:pPr lvl="1">
              <a:buFont typeface="Arial" pitchFamily="34" charset="0"/>
              <a:buChar char="•"/>
            </a:pPr>
            <a:r>
              <a:rPr lang="fr-FR" sz="1200" dirty="0"/>
              <a:t>Utilisation de :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/>
              <a:t>Secrets </a:t>
            </a:r>
            <a:r>
              <a:rPr lang="fr-FR" sz="1200" dirty="0" err="1"/>
              <a:t>Kubernetes</a:t>
            </a:r>
            <a:r>
              <a:rPr lang="fr-FR" sz="1200" dirty="0"/>
              <a:t>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 err="1"/>
              <a:t>Vault</a:t>
            </a:r>
            <a:r>
              <a:rPr lang="fr-FR" sz="1200" dirty="0"/>
              <a:t>,</a:t>
            </a:r>
          </a:p>
          <a:p>
            <a:pPr lvl="2">
              <a:buFont typeface="Arial" pitchFamily="34" charset="0"/>
              <a:buChar char="•"/>
            </a:pPr>
            <a:r>
              <a:rPr lang="fr-FR" sz="1200" dirty="0" err="1"/>
              <a:t>Sealed</a:t>
            </a:r>
            <a:r>
              <a:rPr lang="fr-FR" sz="1200" dirty="0"/>
              <a:t> Secrets.</a:t>
            </a:r>
          </a:p>
          <a:p>
            <a:pPr marL="0" indent="0">
              <a:buNone/>
            </a:pPr>
            <a:r>
              <a:rPr lang="fr-FR" sz="1200" dirty="0"/>
              <a:t>👉 Un YAML est du </a:t>
            </a:r>
            <a:r>
              <a:rPr lang="fr-FR" sz="1200" b="1" dirty="0"/>
              <a:t>code exécutable</a:t>
            </a:r>
            <a:r>
              <a:rPr lang="fr-FR" sz="1200" dirty="0"/>
              <a:t> : il doit être sécurisé comme tel, un mauvais </a:t>
            </a:r>
            <a:r>
              <a:rPr lang="fr-FR" sz="1200" dirty="0" err="1"/>
              <a:t>manifest</a:t>
            </a:r>
            <a:r>
              <a:rPr lang="fr-FR" sz="1200" dirty="0"/>
              <a:t> peut être aussi dangereux qu’un mauvais code.</a:t>
            </a:r>
          </a:p>
        </p:txBody>
      </p:sp>
    </p:spTree>
    <p:extLst>
      <p:ext uri="{BB962C8B-B14F-4D97-AF65-F5344CB8AC3E}">
        <p14:creationId xmlns:p14="http://schemas.microsoft.com/office/powerpoint/2010/main" val="2398981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Sécurité dans la CD et le </a:t>
            </a:r>
            <a:r>
              <a:rPr lang="fr-FR" sz="2400" dirty="0" err="1"/>
              <a:t>GitOps</a:t>
            </a:r>
            <a:r>
              <a:rPr lang="fr-FR" sz="2400" dirty="0"/>
              <a:t>.</a:t>
            </a:r>
            <a:br>
              <a:rPr lang="fr-FR" sz="2400" dirty="0"/>
            </a:br>
            <a:r>
              <a:rPr lang="fr-FR" sz="1800" dirty="0"/>
              <a:t>Policy as Code dans la CD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06660" y="899160"/>
            <a:ext cx="8569700" cy="3357232"/>
          </a:xfrm>
        </p:spPr>
        <p:txBody>
          <a:bodyPr>
            <a:noAutofit/>
          </a:bodyPr>
          <a:lstStyle/>
          <a:p>
            <a:r>
              <a:rPr lang="fr-FR" sz="1150" b="1" dirty="0"/>
              <a:t>Qu’est-ce que le Policy as Code ?</a:t>
            </a:r>
          </a:p>
          <a:p>
            <a:pPr lvl="1">
              <a:buFont typeface="Arial" pitchFamily="34" charset="0"/>
              <a:buChar char="•"/>
            </a:pPr>
            <a:r>
              <a:rPr lang="fr-FR" sz="1150" dirty="0"/>
              <a:t>Des règles de sécurité exprimées :</a:t>
            </a:r>
          </a:p>
          <a:p>
            <a:pPr lvl="2">
              <a:buFont typeface="Arial" pitchFamily="34" charset="0"/>
              <a:buChar char="•"/>
            </a:pPr>
            <a:r>
              <a:rPr lang="fr-FR" sz="1150" dirty="0"/>
              <a:t>en code,</a:t>
            </a:r>
          </a:p>
          <a:p>
            <a:pPr lvl="2">
              <a:buFont typeface="Arial" pitchFamily="34" charset="0"/>
              <a:buChar char="•"/>
            </a:pPr>
            <a:r>
              <a:rPr lang="fr-FR" sz="1150" dirty="0" err="1"/>
              <a:t>versionnées</a:t>
            </a:r>
            <a:r>
              <a:rPr lang="fr-FR" sz="1150" dirty="0"/>
              <a:t>,</a:t>
            </a:r>
          </a:p>
          <a:p>
            <a:pPr lvl="2">
              <a:buFont typeface="Arial" pitchFamily="34" charset="0"/>
              <a:buChar char="•"/>
            </a:pPr>
            <a:r>
              <a:rPr lang="fr-FR" sz="1150" dirty="0"/>
              <a:t>exécutées automatiquement.</a:t>
            </a:r>
          </a:p>
          <a:p>
            <a:r>
              <a:rPr lang="fr-FR" sz="1150" b="1" dirty="0"/>
              <a:t>Outils principaux</a:t>
            </a:r>
          </a:p>
          <a:p>
            <a:pPr lvl="1">
              <a:buFont typeface="Arial" pitchFamily="34" charset="0"/>
              <a:buChar char="•"/>
            </a:pPr>
            <a:r>
              <a:rPr lang="fr-FR" sz="1150" b="1" dirty="0"/>
              <a:t>OPA (Open Policy Agent)</a:t>
            </a:r>
            <a:endParaRPr lang="fr-FR" sz="1150" dirty="0"/>
          </a:p>
          <a:p>
            <a:pPr lvl="2">
              <a:buFont typeface="Arial" pitchFamily="34" charset="0"/>
              <a:buChar char="•"/>
            </a:pPr>
            <a:r>
              <a:rPr lang="fr-FR" sz="1150" dirty="0"/>
              <a:t>langage </a:t>
            </a:r>
            <a:r>
              <a:rPr lang="fr-FR" sz="1150" dirty="0" err="1"/>
              <a:t>Rego</a:t>
            </a:r>
            <a:r>
              <a:rPr lang="fr-FR" sz="1150" dirty="0"/>
              <a:t>,</a:t>
            </a:r>
          </a:p>
          <a:p>
            <a:pPr lvl="2">
              <a:buFont typeface="Arial" pitchFamily="34" charset="0"/>
              <a:buChar char="•"/>
            </a:pPr>
            <a:r>
              <a:rPr lang="fr-FR" sz="1150" dirty="0"/>
              <a:t>politiques transverses.</a:t>
            </a:r>
          </a:p>
          <a:p>
            <a:pPr lvl="1">
              <a:buFont typeface="Arial" pitchFamily="34" charset="0"/>
              <a:buChar char="•"/>
            </a:pPr>
            <a:r>
              <a:rPr lang="fr-FR" sz="1150" b="1" dirty="0" err="1"/>
              <a:t>Kyverno</a:t>
            </a:r>
            <a:endParaRPr lang="fr-FR" sz="1150" dirty="0"/>
          </a:p>
          <a:p>
            <a:pPr lvl="2">
              <a:buFont typeface="Arial" pitchFamily="34" charset="0"/>
              <a:buChar char="•"/>
            </a:pPr>
            <a:r>
              <a:rPr lang="fr-FR" sz="1150" dirty="0" err="1"/>
              <a:t>policies</a:t>
            </a:r>
            <a:r>
              <a:rPr lang="fr-FR" sz="1150" dirty="0"/>
              <a:t> </a:t>
            </a:r>
            <a:r>
              <a:rPr lang="fr-FR" sz="1150" dirty="0" err="1"/>
              <a:t>Kubernetes</a:t>
            </a:r>
            <a:r>
              <a:rPr lang="fr-FR" sz="1150" dirty="0"/>
              <a:t> en YAML,</a:t>
            </a:r>
          </a:p>
          <a:p>
            <a:pPr lvl="2">
              <a:buFont typeface="Arial" pitchFamily="34" charset="0"/>
              <a:buChar char="•"/>
            </a:pPr>
            <a:r>
              <a:rPr lang="fr-FR" sz="1150" dirty="0"/>
              <a:t>lisibles par les équipes </a:t>
            </a:r>
            <a:r>
              <a:rPr lang="fr-FR" sz="1150" dirty="0" err="1"/>
              <a:t>Ops</a:t>
            </a:r>
            <a:r>
              <a:rPr lang="fr-FR" sz="1150" dirty="0"/>
              <a:t> &amp; Sec.</a:t>
            </a:r>
          </a:p>
          <a:p>
            <a:r>
              <a:rPr lang="fr-FR" sz="1150" b="1" dirty="0"/>
              <a:t>Exemples de politiques</a:t>
            </a:r>
          </a:p>
          <a:p>
            <a:pPr lvl="1">
              <a:buFont typeface="Arial" pitchFamily="34" charset="0"/>
              <a:buChar char="•"/>
            </a:pPr>
            <a:r>
              <a:rPr lang="fr-FR" sz="1150" dirty="0"/>
              <a:t>Images signées obligatoires.</a:t>
            </a:r>
          </a:p>
          <a:p>
            <a:pPr lvl="1">
              <a:buFont typeface="Arial" pitchFamily="34" charset="0"/>
              <a:buChar char="•"/>
            </a:pPr>
            <a:r>
              <a:rPr lang="fr-FR" sz="1150" dirty="0"/>
              <a:t>Interdiction du </a:t>
            </a:r>
            <a:r>
              <a:rPr lang="fr-FR" sz="1150" dirty="0" err="1"/>
              <a:t>root</a:t>
            </a:r>
            <a:r>
              <a:rPr lang="fr-FR" sz="1150" dirty="0"/>
              <a:t>.</a:t>
            </a:r>
          </a:p>
          <a:p>
            <a:pPr lvl="1">
              <a:buFont typeface="Arial" pitchFamily="34" charset="0"/>
              <a:buChar char="•"/>
            </a:pPr>
            <a:r>
              <a:rPr lang="fr-FR" sz="1150" dirty="0"/>
              <a:t>Limites CPU/mémoire requises.</a:t>
            </a:r>
          </a:p>
          <a:p>
            <a:pPr lvl="1">
              <a:buFont typeface="Arial" pitchFamily="34" charset="0"/>
              <a:buChar char="•"/>
            </a:pPr>
            <a:r>
              <a:rPr lang="fr-FR" sz="1150" dirty="0" err="1"/>
              <a:t>Namespaces</a:t>
            </a:r>
            <a:r>
              <a:rPr lang="fr-FR" sz="1150" dirty="0"/>
              <a:t> autorisés uniquement.</a:t>
            </a:r>
          </a:p>
          <a:p>
            <a:pPr marL="0" indent="0">
              <a:buNone/>
            </a:pPr>
            <a:r>
              <a:rPr lang="fr-FR" sz="1150" b="1" dirty="0"/>
              <a:t> </a:t>
            </a:r>
            <a:r>
              <a:rPr lang="fr-FR" sz="1150" dirty="0"/>
              <a:t>Le Policy as Code remplace les contrôles humains par des garde-fous automatiques.</a:t>
            </a:r>
          </a:p>
        </p:txBody>
      </p:sp>
    </p:spTree>
    <p:extLst>
      <p:ext uri="{BB962C8B-B14F-4D97-AF65-F5344CB8AC3E}">
        <p14:creationId xmlns:p14="http://schemas.microsoft.com/office/powerpoint/2010/main" val="3468660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Sécurité dans la CD et le </a:t>
            </a:r>
            <a:r>
              <a:rPr lang="fr-FR" sz="2400" dirty="0" err="1"/>
              <a:t>GitOps</a:t>
            </a:r>
            <a:r>
              <a:rPr lang="fr-FR" sz="2400" dirty="0"/>
              <a:t>.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1800" dirty="0"/>
              <a:t>Sécurité des environnements et des accès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3360" y="1043940"/>
            <a:ext cx="8047211" cy="3632738"/>
          </a:xfrm>
        </p:spPr>
        <p:txBody>
          <a:bodyPr/>
          <a:lstStyle/>
          <a:p>
            <a:r>
              <a:rPr lang="fr-FR" b="1" dirty="0"/>
              <a:t>Contrôle des accès</a:t>
            </a:r>
          </a:p>
          <a:p>
            <a:pPr lvl="1"/>
            <a:r>
              <a:rPr lang="fr-FR" dirty="0"/>
              <a:t>Git :</a:t>
            </a:r>
          </a:p>
          <a:p>
            <a:pPr lvl="2"/>
            <a:r>
              <a:rPr lang="fr-FR" dirty="0"/>
              <a:t>branches protégées,</a:t>
            </a:r>
          </a:p>
          <a:p>
            <a:pPr lvl="2"/>
            <a:r>
              <a:rPr lang="fr-FR" dirty="0" err="1"/>
              <a:t>Merge</a:t>
            </a:r>
            <a:r>
              <a:rPr lang="fr-FR" dirty="0"/>
              <a:t> </a:t>
            </a:r>
            <a:r>
              <a:rPr lang="fr-FR" dirty="0" err="1"/>
              <a:t>Requests</a:t>
            </a:r>
            <a:r>
              <a:rPr lang="fr-FR" dirty="0"/>
              <a:t>,</a:t>
            </a:r>
          </a:p>
          <a:p>
            <a:pPr lvl="2"/>
            <a:r>
              <a:rPr lang="fr-FR" dirty="0"/>
              <a:t>approbations obligatoires.</a:t>
            </a:r>
          </a:p>
          <a:p>
            <a:pPr lvl="1"/>
            <a:r>
              <a:rPr lang="fr-FR" dirty="0"/>
              <a:t>Plateforme :</a:t>
            </a:r>
          </a:p>
          <a:p>
            <a:pPr lvl="2"/>
            <a:r>
              <a:rPr lang="fr-FR" dirty="0"/>
              <a:t>RBAC </a:t>
            </a:r>
            <a:r>
              <a:rPr lang="fr-FR" dirty="0" err="1"/>
              <a:t>Kubernetes</a:t>
            </a:r>
            <a:r>
              <a:rPr lang="fr-FR" dirty="0"/>
              <a:t>,</a:t>
            </a:r>
          </a:p>
          <a:p>
            <a:pPr lvl="2"/>
            <a:r>
              <a:rPr lang="fr-FR" dirty="0"/>
              <a:t>rôles </a:t>
            </a:r>
            <a:r>
              <a:rPr lang="fr-FR" dirty="0" err="1"/>
              <a:t>ArgoCD</a:t>
            </a:r>
            <a:r>
              <a:rPr lang="fr-FR" dirty="0"/>
              <a:t>,</a:t>
            </a:r>
          </a:p>
          <a:p>
            <a:pPr lvl="2"/>
            <a:r>
              <a:rPr lang="fr-FR" dirty="0"/>
              <a:t>séparation des environnements.</a:t>
            </a:r>
          </a:p>
          <a:p>
            <a:r>
              <a:rPr lang="fr-FR" b="1" dirty="0"/>
              <a:t>Séparation des responsabilités</a:t>
            </a:r>
          </a:p>
          <a:p>
            <a:pPr lvl="1"/>
            <a:r>
              <a:rPr lang="fr-FR" dirty="0" err="1"/>
              <a:t>Dev</a:t>
            </a:r>
            <a:r>
              <a:rPr lang="fr-FR" dirty="0"/>
              <a:t> : code applicatif.</a:t>
            </a:r>
          </a:p>
          <a:p>
            <a:pPr lvl="1"/>
            <a:r>
              <a:rPr lang="fr-FR" dirty="0" err="1"/>
              <a:t>Ops</a:t>
            </a:r>
            <a:r>
              <a:rPr lang="fr-FR" dirty="0"/>
              <a:t> : plateforme.</a:t>
            </a:r>
          </a:p>
          <a:p>
            <a:pPr lvl="1"/>
            <a:r>
              <a:rPr lang="fr-FR" dirty="0"/>
              <a:t>Sec : règles et contrôles.</a:t>
            </a:r>
          </a:p>
          <a:p>
            <a:pPr lvl="1"/>
            <a:endParaRPr lang="fr-FR" dirty="0"/>
          </a:p>
          <a:p>
            <a:pPr marL="0" indent="0">
              <a:buNone/>
            </a:pPr>
            <a:r>
              <a:rPr lang="fr-FR" dirty="0"/>
              <a:t>👉 Mise en œuvre du </a:t>
            </a:r>
            <a:r>
              <a:rPr lang="fr-FR" b="1" dirty="0"/>
              <a:t>least </a:t>
            </a:r>
            <a:r>
              <a:rPr lang="fr-FR" b="1" dirty="0" err="1"/>
              <a:t>privilege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/>
              <a:t>👉 La sécurité de la CD est autant </a:t>
            </a:r>
            <a:r>
              <a:rPr lang="fr-FR" b="1" dirty="0"/>
              <a:t>organisationnelle que technique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22333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Sécurité dans la CD et le </a:t>
            </a:r>
            <a:r>
              <a:rPr lang="fr-FR" sz="2400" dirty="0" err="1"/>
              <a:t>GitOps</a:t>
            </a:r>
            <a:r>
              <a:rPr lang="fr-FR" sz="2400" dirty="0"/>
              <a:t>.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1800" dirty="0"/>
              <a:t>Moins d’accès humains = plus de sécurité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3360" y="1043940"/>
            <a:ext cx="8047211" cy="2123658"/>
          </a:xfrm>
        </p:spPr>
        <p:txBody>
          <a:bodyPr/>
          <a:lstStyle/>
          <a:p>
            <a:r>
              <a:rPr lang="fr-FR" dirty="0"/>
              <a:t>La meilleure sécurité est l’absence de privilèges humains</a:t>
            </a:r>
          </a:p>
          <a:p>
            <a:pPr lvl="1"/>
            <a:r>
              <a:rPr lang="fr-FR" dirty="0" err="1"/>
              <a:t>GitOps</a:t>
            </a:r>
            <a:r>
              <a:rPr lang="fr-FR" dirty="0"/>
              <a:t> :</a:t>
            </a:r>
          </a:p>
          <a:p>
            <a:pPr lvl="2"/>
            <a:r>
              <a:rPr lang="fr-FR" dirty="0"/>
              <a:t>réduit les accès directs</a:t>
            </a:r>
          </a:p>
          <a:p>
            <a:pPr lvl="2"/>
            <a:r>
              <a:rPr lang="fr-FR" dirty="0"/>
              <a:t>centralise les changements</a:t>
            </a:r>
          </a:p>
          <a:p>
            <a:pPr lvl="2"/>
            <a:r>
              <a:rPr lang="fr-FR" dirty="0"/>
              <a:t>trace tout</a:t>
            </a:r>
          </a:p>
          <a:p>
            <a:pPr lvl="1"/>
            <a:r>
              <a:rPr lang="fr-FR" dirty="0"/>
              <a:t>L’humain :</a:t>
            </a:r>
          </a:p>
          <a:p>
            <a:pPr lvl="2"/>
            <a:r>
              <a:rPr lang="fr-FR" dirty="0"/>
              <a:t>décrit</a:t>
            </a:r>
          </a:p>
          <a:p>
            <a:pPr lvl="2"/>
            <a:r>
              <a:rPr lang="fr-FR" dirty="0"/>
              <a:t>valide</a:t>
            </a:r>
          </a:p>
          <a:p>
            <a:pPr lvl="2"/>
            <a:r>
              <a:rPr lang="fr-FR" dirty="0"/>
              <a:t>n’exécute plus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48220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Policy as Code et gouvernance sécurité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1800" dirty="0"/>
              <a:t>Pourquoi la gouvernance est indispensable en </a:t>
            </a:r>
            <a:r>
              <a:rPr lang="fr-FR" sz="1800" dirty="0" err="1"/>
              <a:t>DevSecOps</a:t>
            </a:r>
            <a:r>
              <a:rPr lang="fr-FR" sz="1800" dirty="0"/>
              <a:t>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3360" y="1043940"/>
            <a:ext cx="8047211" cy="3748719"/>
          </a:xfrm>
        </p:spPr>
        <p:txBody>
          <a:bodyPr/>
          <a:lstStyle/>
          <a:p>
            <a:r>
              <a:rPr lang="fr-FR" b="1" dirty="0"/>
              <a:t>Constat</a:t>
            </a:r>
          </a:p>
          <a:p>
            <a:pPr lvl="1"/>
            <a:r>
              <a:rPr lang="fr-FR" dirty="0"/>
              <a:t>Les organisations </a:t>
            </a:r>
            <a:r>
              <a:rPr lang="fr-FR" dirty="0" err="1"/>
              <a:t>DevOps</a:t>
            </a:r>
            <a:r>
              <a:rPr lang="fr-FR" dirty="0"/>
              <a:t> modernes :</a:t>
            </a:r>
          </a:p>
          <a:p>
            <a:pPr lvl="2"/>
            <a:r>
              <a:rPr lang="fr-FR" dirty="0"/>
              <a:t>déploient souvent,</a:t>
            </a:r>
          </a:p>
          <a:p>
            <a:pPr lvl="2"/>
            <a:r>
              <a:rPr lang="fr-FR" dirty="0"/>
              <a:t>sur de multiples environnements,</a:t>
            </a:r>
          </a:p>
          <a:p>
            <a:pPr lvl="2"/>
            <a:r>
              <a:rPr lang="fr-FR" dirty="0"/>
              <a:t>avec des équipes autonomes.</a:t>
            </a:r>
          </a:p>
          <a:p>
            <a:pPr lvl="1"/>
            <a:r>
              <a:rPr lang="fr-FR" dirty="0"/>
              <a:t>Sans gouvernance :</a:t>
            </a:r>
          </a:p>
          <a:p>
            <a:pPr lvl="2"/>
            <a:r>
              <a:rPr lang="fr-FR" dirty="0"/>
              <a:t>règles incohérentes,</a:t>
            </a:r>
          </a:p>
          <a:p>
            <a:pPr lvl="2"/>
            <a:r>
              <a:rPr lang="fr-FR" dirty="0"/>
              <a:t>exceptions non tracées,</a:t>
            </a:r>
          </a:p>
          <a:p>
            <a:pPr lvl="2"/>
            <a:r>
              <a:rPr lang="fr-FR" dirty="0"/>
              <a:t>risques accumulés.</a:t>
            </a:r>
          </a:p>
          <a:p>
            <a:endParaRPr lang="fr-FR" b="1" dirty="0"/>
          </a:p>
          <a:p>
            <a:r>
              <a:rPr lang="fr-FR" b="1" dirty="0"/>
              <a:t>Objectifs de la gouvernance sécurité</a:t>
            </a:r>
          </a:p>
          <a:p>
            <a:pPr lvl="1"/>
            <a:r>
              <a:rPr lang="fr-FR" dirty="0"/>
              <a:t>Définir </a:t>
            </a:r>
            <a:r>
              <a:rPr lang="fr-FR" b="1" dirty="0"/>
              <a:t>des règles communes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Garantir une </a:t>
            </a:r>
            <a:r>
              <a:rPr lang="fr-FR" b="1" dirty="0"/>
              <a:t>application homogène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Assurer la </a:t>
            </a:r>
            <a:r>
              <a:rPr lang="fr-FR" b="1" dirty="0"/>
              <a:t>traçabilité et la conformité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Éviter la dépendance aux contrôles humains.</a:t>
            </a:r>
          </a:p>
          <a:p>
            <a:pPr marL="0" indent="0">
              <a:buNone/>
            </a:pPr>
            <a:r>
              <a:rPr lang="fr-FR" dirty="0"/>
              <a:t>La gouvernance ce n'est pas de la bureaucratie, grâce à l'automatisation des règles qui permet aussi de passer à l’échelle.”</a:t>
            </a:r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4556760" y="1211580"/>
            <a:ext cx="3931920" cy="261047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>
            <a:noAutofit/>
          </a:bodyPr>
          <a:lstStyle>
            <a:lvl1pPr marL="237384" indent="-237384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9597"/>
              </a:buClr>
              <a:buSzPct val="100000"/>
              <a:buFont typeface="Arial" panose="020B0604020202020204" pitchFamily="34" charset="0"/>
              <a:buChar char="►"/>
              <a:defRPr sz="1200" b="0" kern="1200" baseline="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1pPr>
            <a:lvl2pPr marL="514331" indent="-19782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Tx/>
              <a:buSzPct val="75000"/>
              <a:buFont typeface="Arial" panose="020B0604020202020204" pitchFamily="34" charset="0"/>
              <a:buChar char="•"/>
              <a:defRPr sz="1200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2pPr>
            <a:lvl3pPr marL="791279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597"/>
              </a:buClr>
              <a:buSzPct val="60000"/>
              <a:buFont typeface="Arial" pitchFamily="34" charset="0"/>
              <a:buChar char="•"/>
              <a:defRPr sz="1200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3pPr>
            <a:lvl4pPr marL="1107791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tx1">
                  <a:lumMod val="75000"/>
                </a:schemeClr>
              </a:buClr>
              <a:buFont typeface="Arial" pitchFamily="34" charset="0"/>
              <a:buChar char="•"/>
              <a:defRPr sz="1200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4pPr>
            <a:lvl5pPr marL="1424303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597"/>
              </a:buClr>
              <a:buFont typeface="Arial" pitchFamily="34" charset="0"/>
              <a:buChar char="•"/>
              <a:defRPr sz="1200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/>
              <a:t>Rapport qualité et sécurité</a:t>
            </a:r>
          </a:p>
          <a:p>
            <a:r>
              <a:rPr lang="fr-FR" b="1" dirty="0"/>
              <a:t>Sécurité = qualité renforcée : La sécurité renforce la qualité, elle ne la remplace pas</a:t>
            </a:r>
            <a:endParaRPr lang="fr-FR" dirty="0"/>
          </a:p>
          <a:p>
            <a:pPr lvl="1"/>
            <a:r>
              <a:rPr lang="fr-FR" dirty="0"/>
              <a:t>Sécurité sans qualité :</a:t>
            </a:r>
          </a:p>
          <a:p>
            <a:pPr lvl="2"/>
            <a:r>
              <a:rPr lang="fr-FR" dirty="0"/>
              <a:t>dette</a:t>
            </a:r>
          </a:p>
          <a:p>
            <a:pPr lvl="2"/>
            <a:r>
              <a:rPr lang="fr-FR" dirty="0"/>
              <a:t>contournements</a:t>
            </a:r>
          </a:p>
          <a:p>
            <a:pPr lvl="1"/>
            <a:r>
              <a:rPr lang="fr-FR" dirty="0"/>
              <a:t>Qualité sans sécurité :</a:t>
            </a:r>
          </a:p>
          <a:p>
            <a:pPr lvl="2"/>
            <a:r>
              <a:rPr lang="fr-FR" dirty="0"/>
              <a:t>failles latentes</a:t>
            </a:r>
          </a:p>
          <a:p>
            <a:pPr lvl="1"/>
            <a:r>
              <a:rPr lang="fr-FR" dirty="0"/>
              <a:t>Les deux doivent :</a:t>
            </a:r>
          </a:p>
          <a:p>
            <a:pPr lvl="2"/>
            <a:r>
              <a:rPr lang="fr-FR" dirty="0"/>
              <a:t>partager les pipelines</a:t>
            </a:r>
          </a:p>
          <a:p>
            <a:pPr lvl="2"/>
            <a:r>
              <a:rPr lang="fr-FR" dirty="0"/>
              <a:t>utiliser les mêmes </a:t>
            </a:r>
            <a:r>
              <a:rPr lang="fr-FR" dirty="0" err="1"/>
              <a:t>gates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76621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Policy as Code et gouvernance sécurité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1800" dirty="0"/>
              <a:t>Policy as Code : principe et bénéfices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3360" y="1043940"/>
            <a:ext cx="8047211" cy="3800015"/>
          </a:xfrm>
        </p:spPr>
        <p:txBody>
          <a:bodyPr/>
          <a:lstStyle/>
          <a:p>
            <a:r>
              <a:rPr lang="fr-FR" b="1" dirty="0"/>
              <a:t>Définition</a:t>
            </a:r>
          </a:p>
          <a:p>
            <a:pPr lvl="1"/>
            <a:r>
              <a:rPr lang="fr-FR" dirty="0"/>
              <a:t>Le Policy as Code consiste à </a:t>
            </a:r>
            <a:r>
              <a:rPr lang="fr-FR" b="1" dirty="0"/>
              <a:t>exprimer les règles de sécurité et de conformité sous forme de code</a:t>
            </a:r>
            <a:r>
              <a:rPr lang="fr-FR" dirty="0"/>
              <a:t>, </a:t>
            </a:r>
            <a:r>
              <a:rPr lang="fr-FR" dirty="0" err="1"/>
              <a:t>versionné</a:t>
            </a:r>
            <a:r>
              <a:rPr lang="fr-FR" dirty="0"/>
              <a:t> et exécuté automatiquement.</a:t>
            </a:r>
          </a:p>
          <a:p>
            <a:endParaRPr lang="fr-FR" b="1" dirty="0"/>
          </a:p>
          <a:p>
            <a:r>
              <a:rPr lang="fr-FR" b="1" dirty="0"/>
              <a:t>Ce que remplace le Policy as Code</a:t>
            </a:r>
          </a:p>
          <a:p>
            <a:pPr lvl="1"/>
            <a:r>
              <a:rPr lang="fr-FR" dirty="0" err="1"/>
              <a:t>Checklists</a:t>
            </a:r>
            <a:r>
              <a:rPr lang="fr-FR" dirty="0"/>
              <a:t> manuelles.</a:t>
            </a:r>
          </a:p>
          <a:p>
            <a:pPr lvl="1"/>
            <a:r>
              <a:rPr lang="fr-FR" dirty="0"/>
              <a:t>Procédures documentées.</a:t>
            </a:r>
          </a:p>
          <a:p>
            <a:pPr lvl="1"/>
            <a:r>
              <a:rPr lang="fr-FR" dirty="0"/>
              <a:t>Audits ponctuels (par essence imparfait).</a:t>
            </a:r>
          </a:p>
          <a:p>
            <a:pPr lvl="1"/>
            <a:r>
              <a:rPr lang="fr-FR" dirty="0"/>
              <a:t>Règles implicites</a:t>
            </a:r>
          </a:p>
          <a:p>
            <a:pPr lvl="1"/>
            <a:endParaRPr lang="fr-FR" dirty="0"/>
          </a:p>
          <a:p>
            <a:r>
              <a:rPr lang="fr-FR" b="1" dirty="0"/>
              <a:t>Bénéfices clés</a:t>
            </a:r>
          </a:p>
          <a:p>
            <a:pPr lvl="1"/>
            <a:r>
              <a:rPr lang="fr-FR" dirty="0"/>
              <a:t>Règles </a:t>
            </a:r>
            <a:r>
              <a:rPr lang="fr-FR" b="1" dirty="0"/>
              <a:t>claires et explicites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Application </a:t>
            </a:r>
            <a:r>
              <a:rPr lang="fr-FR" b="1" dirty="0"/>
              <a:t>automatique et systématique</a:t>
            </a:r>
            <a:r>
              <a:rPr lang="fr-FR" dirty="0"/>
              <a:t>.</a:t>
            </a:r>
          </a:p>
          <a:p>
            <a:pPr lvl="1"/>
            <a:r>
              <a:rPr lang="fr-FR" dirty="0" err="1"/>
              <a:t>Versionnement</a:t>
            </a:r>
            <a:r>
              <a:rPr lang="fr-FR" dirty="0"/>
              <a:t> et historique.</a:t>
            </a:r>
          </a:p>
          <a:p>
            <a:pPr lvl="1"/>
            <a:r>
              <a:rPr lang="fr-FR" dirty="0"/>
              <a:t>Tests et évolutivité.</a:t>
            </a:r>
          </a:p>
          <a:p>
            <a:pPr lvl="1"/>
            <a:r>
              <a:rPr lang="fr-FR" dirty="0" err="1"/>
              <a:t>Auditabilité</a:t>
            </a:r>
            <a:r>
              <a:rPr lang="fr-FR" dirty="0"/>
              <a:t> native.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26170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Policy as Code et gouvernance sécurité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1800" dirty="0"/>
              <a:t>Outils et moteurs de Policy as Code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3360" y="1043940"/>
            <a:ext cx="8047211" cy="3582519"/>
          </a:xfrm>
        </p:spPr>
        <p:txBody>
          <a:bodyPr/>
          <a:lstStyle/>
          <a:p>
            <a:r>
              <a:rPr lang="fr-FR" b="1" dirty="0"/>
              <a:t>OPA (Open Policy Agent)</a:t>
            </a:r>
          </a:p>
          <a:p>
            <a:pPr lvl="1"/>
            <a:r>
              <a:rPr lang="fr-FR" dirty="0"/>
              <a:t>Moteur générique de politiques.</a:t>
            </a:r>
          </a:p>
          <a:p>
            <a:pPr lvl="1"/>
            <a:r>
              <a:rPr lang="fr-FR" dirty="0"/>
              <a:t>Langage </a:t>
            </a:r>
            <a:r>
              <a:rPr lang="fr-FR" b="1" dirty="0" err="1"/>
              <a:t>Rego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Utilisable pour :</a:t>
            </a:r>
          </a:p>
          <a:p>
            <a:pPr lvl="2"/>
            <a:r>
              <a:rPr lang="fr-FR" dirty="0" err="1"/>
              <a:t>Kubernetes</a:t>
            </a:r>
            <a:r>
              <a:rPr lang="fr-FR" dirty="0"/>
              <a:t>,</a:t>
            </a:r>
          </a:p>
          <a:p>
            <a:pPr lvl="2"/>
            <a:r>
              <a:rPr lang="fr-FR" dirty="0"/>
              <a:t>CI/CD,</a:t>
            </a:r>
          </a:p>
          <a:p>
            <a:pPr lvl="2"/>
            <a:r>
              <a:rPr lang="fr-FR" dirty="0"/>
              <a:t> Infrastructure as Code.</a:t>
            </a:r>
          </a:p>
          <a:p>
            <a:r>
              <a:rPr lang="fr-FR" b="1" dirty="0" err="1"/>
              <a:t>Kyverno</a:t>
            </a:r>
            <a:endParaRPr lang="fr-FR" b="1" dirty="0"/>
          </a:p>
          <a:p>
            <a:pPr lvl="1"/>
            <a:r>
              <a:rPr lang="fr-FR" dirty="0"/>
              <a:t>Spécifique </a:t>
            </a:r>
            <a:r>
              <a:rPr lang="fr-FR" dirty="0" err="1"/>
              <a:t>Kubernetes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Politiques en </a:t>
            </a:r>
            <a:r>
              <a:rPr lang="fr-FR" b="1" dirty="0"/>
              <a:t>YAML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Très lisible pour les équipes </a:t>
            </a:r>
            <a:r>
              <a:rPr lang="fr-FR" dirty="0" err="1"/>
              <a:t>Ops</a:t>
            </a:r>
            <a:r>
              <a:rPr lang="fr-FR" dirty="0"/>
              <a:t> et Sec.</a:t>
            </a:r>
          </a:p>
          <a:p>
            <a:r>
              <a:rPr lang="fr-FR" b="1" dirty="0"/>
              <a:t>Autres exemples</a:t>
            </a:r>
          </a:p>
          <a:p>
            <a:pPr lvl="1"/>
            <a:r>
              <a:rPr lang="fr-FR" dirty="0" err="1"/>
              <a:t>Sentinel</a:t>
            </a:r>
            <a:r>
              <a:rPr lang="fr-FR" dirty="0"/>
              <a:t> (</a:t>
            </a:r>
            <a:r>
              <a:rPr lang="fr-FR" dirty="0" err="1"/>
              <a:t>Terraform</a:t>
            </a:r>
            <a:r>
              <a:rPr lang="fr-FR" dirty="0"/>
              <a:t> Enterprise).</a:t>
            </a:r>
          </a:p>
          <a:p>
            <a:pPr lvl="1"/>
            <a:r>
              <a:rPr lang="fr-FR" dirty="0" err="1"/>
              <a:t>Conftest</a:t>
            </a:r>
            <a:r>
              <a:rPr lang="fr-FR" dirty="0"/>
              <a:t> (tests de configuration).</a:t>
            </a:r>
          </a:p>
          <a:p>
            <a:pPr lvl="1"/>
            <a:r>
              <a:rPr lang="fr-FR" dirty="0" err="1"/>
              <a:t>GitLab</a:t>
            </a:r>
            <a:r>
              <a:rPr lang="fr-FR" dirty="0"/>
              <a:t> </a:t>
            </a:r>
            <a:r>
              <a:rPr lang="fr-FR" dirty="0" err="1"/>
              <a:t>Compliance</a:t>
            </a:r>
            <a:r>
              <a:rPr lang="fr-FR" dirty="0"/>
              <a:t> </a:t>
            </a:r>
            <a:r>
              <a:rPr lang="fr-FR" dirty="0" err="1"/>
              <a:t>Frameworks</a:t>
            </a:r>
            <a:r>
              <a:rPr lang="fr-FR" dirty="0"/>
              <a:t>.</a:t>
            </a:r>
          </a:p>
          <a:p>
            <a:pPr marL="39564" indent="0">
              <a:buNone/>
            </a:pPr>
            <a:r>
              <a:rPr lang="fr-FR" dirty="0"/>
              <a:t>Les </a:t>
            </a:r>
            <a:r>
              <a:rPr lang="fr-FR" dirty="0" err="1"/>
              <a:t>policies</a:t>
            </a:r>
            <a:r>
              <a:rPr lang="fr-FR" dirty="0"/>
              <a:t> sont à la sécurité ce que les tests sont au code.”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135491"/>
              </p:ext>
            </p:extLst>
          </p:nvPr>
        </p:nvGraphicFramePr>
        <p:xfrm>
          <a:off x="4724400" y="2814479"/>
          <a:ext cx="4202430" cy="1371600"/>
        </p:xfrm>
        <a:graphic>
          <a:graphicData uri="http://schemas.openxmlformats.org/drawingml/2006/table">
            <a:tbl>
              <a:tblPr/>
              <a:tblGrid>
                <a:gridCol w="210121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0121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 dirty="0"/>
                        <a:t>Besoin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Outil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200"/>
                        <a:t>Multi-plateformes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OPA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200"/>
                        <a:t>Kubernetes natif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Kyverno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200"/>
                        <a:t>IaC (Terraform)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Sentinel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200"/>
                        <a:t>CI/CD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OPA / </a:t>
                      </a:r>
                      <a:r>
                        <a:rPr lang="fr-FR" sz="1200" dirty="0" err="1"/>
                        <a:t>GitLab</a:t>
                      </a:r>
                      <a:endParaRPr lang="fr-F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62327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Policy as Code et gouvernance sécurité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1800" dirty="0"/>
              <a:t>Gouvernance sécurité dans la CI/CD et le </a:t>
            </a:r>
            <a:r>
              <a:rPr lang="fr-FR" sz="1800" dirty="0" err="1"/>
              <a:t>GitOps</a:t>
            </a:r>
            <a:endParaRPr lang="fr-FR" sz="1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3360" y="1043940"/>
            <a:ext cx="8047211" cy="3748719"/>
          </a:xfrm>
        </p:spPr>
        <p:txBody>
          <a:bodyPr/>
          <a:lstStyle/>
          <a:p>
            <a:r>
              <a:rPr lang="fr-FR" b="1" dirty="0"/>
              <a:t>Dans la CI</a:t>
            </a:r>
          </a:p>
          <a:p>
            <a:pPr lvl="1"/>
            <a:r>
              <a:rPr lang="fr-FR" dirty="0"/>
              <a:t>Blocage :</a:t>
            </a:r>
          </a:p>
          <a:p>
            <a:pPr lvl="2"/>
            <a:r>
              <a:rPr lang="fr-FR" dirty="0"/>
              <a:t>si vulnérabilité critique,</a:t>
            </a:r>
          </a:p>
          <a:p>
            <a:pPr lvl="2"/>
            <a:r>
              <a:rPr lang="fr-FR" dirty="0"/>
              <a:t>si dépendance interdite,</a:t>
            </a:r>
          </a:p>
          <a:p>
            <a:pPr lvl="2"/>
            <a:r>
              <a:rPr lang="fr-FR" dirty="0"/>
              <a:t>si artefact non signé.</a:t>
            </a:r>
          </a:p>
          <a:p>
            <a:pPr lvl="1"/>
            <a:r>
              <a:rPr lang="fr-FR" dirty="0"/>
              <a:t>Validation automatique avant </a:t>
            </a:r>
            <a:r>
              <a:rPr lang="fr-FR" dirty="0" err="1"/>
              <a:t>merge</a:t>
            </a:r>
            <a:r>
              <a:rPr lang="fr-FR" dirty="0"/>
              <a:t>.</a:t>
            </a:r>
          </a:p>
          <a:p>
            <a:r>
              <a:rPr lang="fr-FR" b="1" dirty="0"/>
              <a:t>Dans la CD / </a:t>
            </a:r>
            <a:r>
              <a:rPr lang="fr-FR" b="1" dirty="0" err="1"/>
              <a:t>GitOps</a:t>
            </a:r>
            <a:endParaRPr lang="fr-FR" b="1" dirty="0"/>
          </a:p>
          <a:p>
            <a:pPr lvl="1"/>
            <a:r>
              <a:rPr lang="fr-FR" dirty="0"/>
              <a:t>Admission control </a:t>
            </a:r>
            <a:r>
              <a:rPr lang="fr-FR" dirty="0" err="1"/>
              <a:t>Kubernetes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Refus des </a:t>
            </a:r>
            <a:r>
              <a:rPr lang="fr-FR" dirty="0" err="1"/>
              <a:t>manifests</a:t>
            </a:r>
            <a:r>
              <a:rPr lang="fr-FR" dirty="0"/>
              <a:t> non conformes.</a:t>
            </a:r>
          </a:p>
          <a:p>
            <a:pPr lvl="1"/>
            <a:r>
              <a:rPr lang="fr-FR" dirty="0"/>
              <a:t>Auto-remédiation possible.</a:t>
            </a:r>
          </a:p>
          <a:p>
            <a:r>
              <a:rPr lang="fr-FR" b="1" dirty="0"/>
              <a:t>Rôles et responsabilités</a:t>
            </a:r>
          </a:p>
          <a:p>
            <a:pPr lvl="1"/>
            <a:r>
              <a:rPr lang="fr-FR" b="1" dirty="0"/>
              <a:t>Sécurité</a:t>
            </a:r>
            <a:r>
              <a:rPr lang="fr-FR" dirty="0"/>
              <a:t> :</a:t>
            </a:r>
          </a:p>
          <a:p>
            <a:pPr lvl="2"/>
            <a:r>
              <a:rPr lang="fr-FR" dirty="0"/>
              <a:t>définit et code les politiques avec du code </a:t>
            </a:r>
            <a:r>
              <a:rPr lang="fr-FR" dirty="0" err="1"/>
              <a:t>versionné</a:t>
            </a:r>
            <a:r>
              <a:rPr lang="fr-FR" dirty="0"/>
              <a:t>.</a:t>
            </a:r>
          </a:p>
          <a:p>
            <a:pPr lvl="1"/>
            <a:r>
              <a:rPr lang="fr-FR" b="1" dirty="0" err="1"/>
              <a:t>Ops</a:t>
            </a:r>
            <a:r>
              <a:rPr lang="fr-FR" dirty="0"/>
              <a:t> :</a:t>
            </a:r>
          </a:p>
          <a:p>
            <a:pPr lvl="2"/>
            <a:r>
              <a:rPr lang="fr-FR" dirty="0"/>
              <a:t>opère la plateforme.</a:t>
            </a:r>
          </a:p>
          <a:p>
            <a:pPr lvl="1"/>
            <a:r>
              <a:rPr lang="fr-FR" b="1" dirty="0" err="1"/>
              <a:t>Dev</a:t>
            </a:r>
            <a:r>
              <a:rPr lang="fr-FR" dirty="0"/>
              <a:t> :</a:t>
            </a:r>
          </a:p>
          <a:p>
            <a:pPr lvl="2"/>
            <a:r>
              <a:rPr lang="fr-FR" dirty="0"/>
              <a:t>applique et corrige.</a:t>
            </a:r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4587240" y="1706880"/>
            <a:ext cx="4267199" cy="168866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>
            <a:lvl1pPr marL="237384" indent="-237384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9597"/>
              </a:buClr>
              <a:buSzPct val="100000"/>
              <a:buFont typeface="Arial" panose="020B0604020202020204" pitchFamily="34" charset="0"/>
              <a:buChar char="►"/>
              <a:defRPr sz="1200" b="0" kern="1200" baseline="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1pPr>
            <a:lvl2pPr marL="514331" indent="-19782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Tx/>
              <a:buSzPct val="75000"/>
              <a:buFont typeface="Arial" panose="020B0604020202020204" pitchFamily="34" charset="0"/>
              <a:buChar char="•"/>
              <a:defRPr sz="1200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2pPr>
            <a:lvl3pPr marL="791279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597"/>
              </a:buClr>
              <a:buSzPct val="60000"/>
              <a:buFont typeface="Arial" pitchFamily="34" charset="0"/>
              <a:buChar char="•"/>
              <a:defRPr sz="1200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3pPr>
            <a:lvl4pPr marL="1107791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tx1">
                  <a:lumMod val="75000"/>
                </a:schemeClr>
              </a:buClr>
              <a:buFont typeface="Arial" pitchFamily="34" charset="0"/>
              <a:buChar char="•"/>
              <a:defRPr sz="1200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4pPr>
            <a:lvl5pPr marL="1424303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597"/>
              </a:buClr>
              <a:buFont typeface="Arial" pitchFamily="34" charset="0"/>
              <a:buChar char="•"/>
              <a:defRPr sz="1200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La gouvernance ralentit quand elle est humaine</a:t>
            </a:r>
            <a:endParaRPr lang="fr-FR" dirty="0"/>
          </a:p>
          <a:p>
            <a:pPr lvl="1"/>
            <a:r>
              <a:rPr lang="fr-FR" dirty="0"/>
              <a:t>Règles humaines :</a:t>
            </a:r>
          </a:p>
          <a:p>
            <a:pPr lvl="2"/>
            <a:r>
              <a:rPr lang="fr-FR" dirty="0"/>
              <a:t>délais</a:t>
            </a:r>
          </a:p>
          <a:p>
            <a:pPr lvl="2"/>
            <a:r>
              <a:rPr lang="fr-FR" dirty="0"/>
              <a:t>incohérences</a:t>
            </a:r>
          </a:p>
          <a:p>
            <a:pPr lvl="1"/>
            <a:r>
              <a:rPr lang="fr-FR" dirty="0"/>
              <a:t>Règles codées :</a:t>
            </a:r>
          </a:p>
          <a:p>
            <a:pPr lvl="2"/>
            <a:r>
              <a:rPr lang="fr-FR" dirty="0"/>
              <a:t>cohérence</a:t>
            </a:r>
          </a:p>
          <a:p>
            <a:pPr lvl="2"/>
            <a:r>
              <a:rPr lang="fr-FR" dirty="0" err="1"/>
              <a:t>auditabilité</a:t>
            </a:r>
            <a:endParaRPr lang="fr-FR" dirty="0"/>
          </a:p>
          <a:p>
            <a:pPr lvl="2"/>
            <a:r>
              <a:rPr lang="fr-FR" dirty="0"/>
              <a:t>vitesse</a:t>
            </a:r>
          </a:p>
        </p:txBody>
      </p:sp>
    </p:spTree>
    <p:extLst>
      <p:ext uri="{BB962C8B-B14F-4D97-AF65-F5344CB8AC3E}">
        <p14:creationId xmlns:p14="http://schemas.microsoft.com/office/powerpoint/2010/main" val="12488334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Policy as Code et gouvernance sécurité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1800" dirty="0"/>
              <a:t>Conformité, audit et amélioration continue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3360" y="1043940"/>
            <a:ext cx="8047211" cy="3531223"/>
          </a:xfrm>
        </p:spPr>
        <p:txBody>
          <a:bodyPr/>
          <a:lstStyle/>
          <a:p>
            <a:r>
              <a:rPr lang="fr-FR" b="1" dirty="0"/>
              <a:t>Conformité continue</a:t>
            </a:r>
          </a:p>
          <a:p>
            <a:pPr lvl="1"/>
            <a:r>
              <a:rPr lang="fr-FR" dirty="0"/>
              <a:t>Règles toujours appliquées.</a:t>
            </a:r>
          </a:p>
          <a:p>
            <a:pPr lvl="1"/>
            <a:r>
              <a:rPr lang="fr-FR" dirty="0"/>
              <a:t>Preuves générées automatiquement.</a:t>
            </a:r>
          </a:p>
          <a:p>
            <a:pPr lvl="1"/>
            <a:r>
              <a:rPr lang="fr-FR" dirty="0"/>
              <a:t>Détection immédiate des écarts.</a:t>
            </a:r>
          </a:p>
          <a:p>
            <a:r>
              <a:rPr lang="fr-FR" b="1" dirty="0"/>
              <a:t>Audit simplifié</a:t>
            </a:r>
          </a:p>
          <a:p>
            <a:pPr lvl="1"/>
            <a:r>
              <a:rPr lang="fr-FR" dirty="0"/>
              <a:t>Historique Git des politiques.</a:t>
            </a:r>
          </a:p>
          <a:p>
            <a:pPr lvl="1"/>
            <a:r>
              <a:rPr lang="fr-FR" dirty="0"/>
              <a:t>Journaux d’exécution des contrôles.</a:t>
            </a:r>
          </a:p>
          <a:p>
            <a:pPr lvl="1"/>
            <a:r>
              <a:rPr lang="fr-FR" dirty="0"/>
              <a:t>Corrélation avec :</a:t>
            </a:r>
          </a:p>
          <a:p>
            <a:pPr lvl="2"/>
            <a:r>
              <a:rPr lang="fr-FR" dirty="0"/>
              <a:t>CI/CD,</a:t>
            </a:r>
          </a:p>
          <a:p>
            <a:pPr lvl="2"/>
            <a:r>
              <a:rPr lang="fr-FR" dirty="0"/>
              <a:t>déploiements,</a:t>
            </a:r>
          </a:p>
          <a:p>
            <a:pPr lvl="2"/>
            <a:r>
              <a:rPr lang="fr-FR" dirty="0"/>
              <a:t>incidents.</a:t>
            </a:r>
          </a:p>
          <a:p>
            <a:r>
              <a:rPr lang="fr-FR" b="1" dirty="0"/>
              <a:t>Amélioration continue</a:t>
            </a:r>
          </a:p>
          <a:p>
            <a:pPr lvl="1"/>
            <a:r>
              <a:rPr lang="fr-FR" dirty="0"/>
              <a:t>Ajustement des politiques.</a:t>
            </a:r>
          </a:p>
          <a:p>
            <a:pPr lvl="1"/>
            <a:r>
              <a:rPr lang="fr-FR" dirty="0"/>
              <a:t>Réduction des faux positifs.</a:t>
            </a:r>
          </a:p>
          <a:p>
            <a:pPr lvl="1"/>
            <a:r>
              <a:rPr lang="fr-FR" dirty="0"/>
              <a:t>Alignement sécurité ↔ réalité terrain.</a:t>
            </a:r>
          </a:p>
          <a:p>
            <a:pPr lvl="2"/>
            <a:endParaRPr lang="fr-FR" dirty="0"/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4526279" y="2255520"/>
            <a:ext cx="4267199" cy="244374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>
            <a:lvl1pPr marL="237384" indent="-237384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9597"/>
              </a:buClr>
              <a:buSzPct val="100000"/>
              <a:buFont typeface="Arial" panose="020B0604020202020204" pitchFamily="34" charset="0"/>
              <a:buChar char="►"/>
              <a:defRPr sz="1200" b="0" kern="1200" baseline="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1pPr>
            <a:lvl2pPr marL="514331" indent="-19782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Tx/>
              <a:buSzPct val="75000"/>
              <a:buFont typeface="Arial" panose="020B0604020202020204" pitchFamily="34" charset="0"/>
              <a:buChar char="•"/>
              <a:defRPr sz="1200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2pPr>
            <a:lvl3pPr marL="791279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597"/>
              </a:buClr>
              <a:buSzPct val="60000"/>
              <a:buFont typeface="Arial" pitchFamily="34" charset="0"/>
              <a:buChar char="•"/>
              <a:defRPr sz="1200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3pPr>
            <a:lvl4pPr marL="1107791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tx1">
                  <a:lumMod val="75000"/>
                </a:schemeClr>
              </a:buClr>
              <a:buFont typeface="Arial" pitchFamily="34" charset="0"/>
              <a:buChar char="•"/>
              <a:defRPr sz="1200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4pPr>
            <a:lvl5pPr marL="1424303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597"/>
              </a:buClr>
              <a:buFont typeface="Arial" pitchFamily="34" charset="0"/>
              <a:buChar char="•"/>
              <a:defRPr sz="1200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L’audit devient une composante du système</a:t>
            </a:r>
            <a:endParaRPr lang="fr-FR" dirty="0"/>
          </a:p>
          <a:p>
            <a:r>
              <a:rPr lang="fr-FR" dirty="0"/>
              <a:t>Avec </a:t>
            </a:r>
            <a:r>
              <a:rPr lang="fr-FR" dirty="0" err="1"/>
              <a:t>DevSecOps</a:t>
            </a:r>
            <a:r>
              <a:rPr lang="fr-FR" dirty="0"/>
              <a:t> :</a:t>
            </a:r>
          </a:p>
          <a:p>
            <a:pPr lvl="1"/>
            <a:r>
              <a:rPr lang="fr-FR" dirty="0"/>
              <a:t>logs</a:t>
            </a:r>
          </a:p>
          <a:p>
            <a:pPr lvl="1"/>
            <a:r>
              <a:rPr lang="fr-FR" dirty="0"/>
              <a:t>pipelines</a:t>
            </a:r>
          </a:p>
          <a:p>
            <a:pPr lvl="1"/>
            <a:r>
              <a:rPr lang="fr-FR" dirty="0" err="1"/>
              <a:t>policies</a:t>
            </a:r>
            <a:endParaRPr lang="fr-FR" dirty="0"/>
          </a:p>
          <a:p>
            <a:r>
              <a:rPr lang="fr-FR" dirty="0"/>
              <a:t>L’audit :</a:t>
            </a:r>
          </a:p>
          <a:p>
            <a:pPr lvl="1"/>
            <a:r>
              <a:rPr lang="fr-FR" dirty="0"/>
              <a:t>observe</a:t>
            </a:r>
          </a:p>
          <a:p>
            <a:pPr lvl="1"/>
            <a:r>
              <a:rPr lang="fr-FR" dirty="0"/>
              <a:t>ne bloque plus</a:t>
            </a:r>
          </a:p>
          <a:p>
            <a:pPr marL="316511" lvl="1" indent="0">
              <a:buNone/>
            </a:pPr>
            <a:endParaRPr lang="fr-FR" dirty="0"/>
          </a:p>
          <a:p>
            <a:pPr marL="39564" indent="0">
              <a:buNone/>
            </a:pPr>
            <a:r>
              <a:rPr lang="fr-FR" dirty="0"/>
              <a:t>Quand tout est tracé automatiquement, l’audit n’est plus une épreuve</a:t>
            </a:r>
          </a:p>
        </p:txBody>
      </p:sp>
    </p:spTree>
    <p:extLst>
      <p:ext uri="{BB962C8B-B14F-4D97-AF65-F5344CB8AC3E}">
        <p14:creationId xmlns:p14="http://schemas.microsoft.com/office/powerpoint/2010/main" val="40401596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Sécurité </a:t>
            </a:r>
            <a:r>
              <a:rPr lang="fr-FR" sz="2400" dirty="0" err="1"/>
              <a:t>runtime</a:t>
            </a:r>
            <a:r>
              <a:rPr lang="fr-FR" sz="2400" dirty="0"/>
              <a:t>, observabilité et SIEM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1800" dirty="0"/>
              <a:t>Pourquoi la sécurité </a:t>
            </a:r>
            <a:r>
              <a:rPr lang="fr-FR" sz="1800" dirty="0" err="1"/>
              <a:t>runtime</a:t>
            </a:r>
            <a:r>
              <a:rPr lang="fr-FR" sz="1800" dirty="0"/>
              <a:t> est indispensable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3360" y="1043940"/>
            <a:ext cx="8047211" cy="3096232"/>
          </a:xfrm>
        </p:spPr>
        <p:txBody>
          <a:bodyPr/>
          <a:lstStyle/>
          <a:p>
            <a:r>
              <a:rPr lang="fr-FR" b="1" dirty="0"/>
              <a:t>Constat fondamental</a:t>
            </a:r>
          </a:p>
          <a:p>
            <a:pPr lvl="1"/>
            <a:r>
              <a:rPr lang="fr-FR" dirty="0"/>
              <a:t>Même avec :</a:t>
            </a:r>
          </a:p>
          <a:p>
            <a:pPr lvl="2"/>
            <a:r>
              <a:rPr lang="fr-FR" dirty="0"/>
              <a:t>code sécurisé,</a:t>
            </a:r>
          </a:p>
          <a:p>
            <a:pPr lvl="2"/>
            <a:r>
              <a:rPr lang="fr-FR" dirty="0"/>
              <a:t>dépendances contrôlées,</a:t>
            </a:r>
          </a:p>
          <a:p>
            <a:pPr lvl="2"/>
            <a:r>
              <a:rPr lang="fr-FR" dirty="0"/>
              <a:t>politiques strictes,</a:t>
            </a:r>
            <a:br>
              <a:rPr lang="fr-FR" dirty="0"/>
            </a:br>
            <a:r>
              <a:rPr lang="fr-FR" dirty="0"/>
              <a:t>👉 </a:t>
            </a:r>
            <a:r>
              <a:rPr lang="fr-FR" b="1" dirty="0"/>
              <a:t>le risque zéro n’existe pas</a:t>
            </a:r>
            <a:r>
              <a:rPr lang="fr-FR" dirty="0"/>
              <a:t>.</a:t>
            </a:r>
          </a:p>
          <a:p>
            <a:pPr lvl="2"/>
            <a:endParaRPr lang="fr-FR" dirty="0"/>
          </a:p>
          <a:p>
            <a:r>
              <a:rPr lang="fr-FR" b="1" dirty="0"/>
              <a:t>Menaces </a:t>
            </a:r>
            <a:r>
              <a:rPr lang="fr-FR" b="1" dirty="0" err="1"/>
              <a:t>runtime</a:t>
            </a:r>
            <a:r>
              <a:rPr lang="fr-FR" b="1" dirty="0"/>
              <a:t> typiques</a:t>
            </a:r>
          </a:p>
          <a:p>
            <a:pPr lvl="1"/>
            <a:r>
              <a:rPr lang="fr-FR" dirty="0"/>
              <a:t>Exploitation de vulnérabilités inconnues (0-day).</a:t>
            </a:r>
          </a:p>
          <a:p>
            <a:pPr lvl="1"/>
            <a:r>
              <a:rPr lang="fr-FR" dirty="0"/>
              <a:t>Mauvaises configurations en production.</a:t>
            </a:r>
          </a:p>
          <a:p>
            <a:pPr lvl="1"/>
            <a:r>
              <a:rPr lang="fr-FR" dirty="0"/>
              <a:t>Comportements anormaux ou malveillants.</a:t>
            </a:r>
          </a:p>
          <a:p>
            <a:pPr lvl="1"/>
            <a:r>
              <a:rPr lang="fr-FR" dirty="0"/>
              <a:t>Attaques ciblant la plateforme (</a:t>
            </a:r>
            <a:r>
              <a:rPr lang="fr-FR" dirty="0" err="1"/>
              <a:t>Kubernetes</a:t>
            </a:r>
            <a:r>
              <a:rPr lang="fr-FR" dirty="0"/>
              <a:t>, API).</a:t>
            </a:r>
          </a:p>
          <a:p>
            <a:endParaRPr lang="fr-FR" b="1" dirty="0"/>
          </a:p>
          <a:p>
            <a:pPr marL="0" indent="0">
              <a:buNone/>
            </a:pPr>
            <a:r>
              <a:rPr lang="fr-FR" dirty="0"/>
              <a:t>👉 La sécurité </a:t>
            </a:r>
            <a:r>
              <a:rPr lang="fr-FR" dirty="0" err="1"/>
              <a:t>runtime</a:t>
            </a:r>
            <a:r>
              <a:rPr lang="fr-FR" dirty="0"/>
              <a:t> est la </a:t>
            </a:r>
            <a:r>
              <a:rPr lang="fr-FR" b="1" dirty="0"/>
              <a:t>ceinture de sécurité</a:t>
            </a:r>
            <a:r>
              <a:rPr lang="fr-FR" dirty="0"/>
              <a:t> du système.</a:t>
            </a:r>
          </a:p>
        </p:txBody>
      </p:sp>
    </p:spTree>
    <p:extLst>
      <p:ext uri="{BB962C8B-B14F-4D97-AF65-F5344CB8AC3E}">
        <p14:creationId xmlns:p14="http://schemas.microsoft.com/office/powerpoint/2010/main" val="2403551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Sécurité </a:t>
            </a:r>
            <a:r>
              <a:rPr lang="fr-FR" sz="2400" dirty="0" err="1"/>
              <a:t>runtime</a:t>
            </a:r>
            <a:r>
              <a:rPr lang="fr-FR" sz="2400" dirty="0"/>
              <a:t>, observabilité et SIEM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1800" dirty="0"/>
              <a:t>Sécurité </a:t>
            </a:r>
            <a:r>
              <a:rPr lang="fr-FR" sz="1800" dirty="0" err="1"/>
              <a:t>runtime</a:t>
            </a:r>
            <a:r>
              <a:rPr lang="fr-FR" sz="1800" dirty="0"/>
              <a:t> : ce que l’on surveille réellement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3360" y="1043940"/>
            <a:ext cx="8047211" cy="3633815"/>
          </a:xfrm>
        </p:spPr>
        <p:txBody>
          <a:bodyPr/>
          <a:lstStyle/>
          <a:p>
            <a:r>
              <a:rPr lang="fr-FR" b="1" dirty="0"/>
              <a:t>Comportements applicatifs suspects</a:t>
            </a:r>
          </a:p>
          <a:p>
            <a:pPr lvl="1"/>
            <a:r>
              <a:rPr lang="fr-FR" dirty="0"/>
              <a:t>Exécutions de commandes inattendues.</a:t>
            </a:r>
          </a:p>
          <a:p>
            <a:pPr lvl="1"/>
            <a:r>
              <a:rPr lang="fr-FR" dirty="0"/>
              <a:t>Accès à des fichiers sensibles.</a:t>
            </a:r>
          </a:p>
          <a:p>
            <a:pPr lvl="1"/>
            <a:r>
              <a:rPr lang="fr-FR" dirty="0"/>
              <a:t>Connexions réseau anormales.</a:t>
            </a:r>
          </a:p>
          <a:p>
            <a:pPr lvl="1"/>
            <a:r>
              <a:rPr lang="fr-FR" dirty="0"/>
              <a:t>Élévation de privilèges.</a:t>
            </a:r>
          </a:p>
          <a:p>
            <a:r>
              <a:rPr lang="fr-FR" b="1" dirty="0"/>
              <a:t>Indicateurs plateforme</a:t>
            </a:r>
          </a:p>
          <a:p>
            <a:pPr lvl="1"/>
            <a:r>
              <a:rPr lang="fr-FR" dirty="0" err="1"/>
              <a:t>Pods</a:t>
            </a:r>
            <a:r>
              <a:rPr lang="fr-FR" dirty="0"/>
              <a:t> redémarrés en boucle.</a:t>
            </a:r>
          </a:p>
          <a:p>
            <a:pPr lvl="1"/>
            <a:r>
              <a:rPr lang="fr-FR" dirty="0"/>
              <a:t>Accès non autorisés à l’API </a:t>
            </a:r>
            <a:r>
              <a:rPr lang="fr-FR" dirty="0" err="1"/>
              <a:t>Kubernetes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Création de ressources non attendues.</a:t>
            </a:r>
          </a:p>
          <a:p>
            <a:pPr lvl="1"/>
            <a:r>
              <a:rPr lang="fr-FR" dirty="0"/>
              <a:t>Changements manuels hors </a:t>
            </a:r>
            <a:r>
              <a:rPr lang="fr-FR" dirty="0" err="1"/>
              <a:t>GitOps</a:t>
            </a:r>
            <a:r>
              <a:rPr lang="fr-FR" dirty="0"/>
              <a:t>.</a:t>
            </a:r>
          </a:p>
          <a:p>
            <a:r>
              <a:rPr lang="fr-FR" b="1" dirty="0"/>
              <a:t> Signaux utilisateurs</a:t>
            </a:r>
          </a:p>
          <a:p>
            <a:pPr lvl="1"/>
            <a:r>
              <a:rPr lang="fr-FR" dirty="0"/>
              <a:t>Échecs d’authentification répétés.</a:t>
            </a:r>
          </a:p>
          <a:p>
            <a:pPr lvl="1"/>
            <a:r>
              <a:rPr lang="fr-FR" dirty="0"/>
              <a:t>Accès hors plages habituelles.</a:t>
            </a:r>
          </a:p>
          <a:p>
            <a:pPr lvl="1"/>
            <a:r>
              <a:rPr lang="fr-FR" dirty="0"/>
              <a:t>Volumes de requêtes anormaux.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👉 En </a:t>
            </a:r>
            <a:r>
              <a:rPr lang="fr-FR" dirty="0" err="1"/>
              <a:t>runtime</a:t>
            </a:r>
            <a:r>
              <a:rPr lang="fr-FR" dirty="0"/>
              <a:t>, on surveille des </a:t>
            </a:r>
            <a:r>
              <a:rPr lang="fr-FR" b="1" dirty="0"/>
              <a:t>comportements</a:t>
            </a:r>
            <a:r>
              <a:rPr lang="fr-FR" dirty="0"/>
              <a:t>, pas seulement des failles.</a:t>
            </a:r>
          </a:p>
        </p:txBody>
      </p:sp>
    </p:spTree>
    <p:extLst>
      <p:ext uri="{BB962C8B-B14F-4D97-AF65-F5344CB8AC3E}">
        <p14:creationId xmlns:p14="http://schemas.microsoft.com/office/powerpoint/2010/main" val="2385262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Sécurité </a:t>
            </a:r>
            <a:r>
              <a:rPr lang="fr-FR" sz="2400" dirty="0" err="1"/>
              <a:t>runtime</a:t>
            </a:r>
            <a:r>
              <a:rPr lang="fr-FR" sz="2400" dirty="0"/>
              <a:t>, observabilité et SIEM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1800" dirty="0"/>
              <a:t>Observabilité au service de la sécurité </a:t>
            </a:r>
            <a:r>
              <a:rPr lang="fr-FR" sz="1800" dirty="0" err="1"/>
              <a:t>runtime</a:t>
            </a:r>
            <a:endParaRPr lang="fr-FR" sz="1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3360" y="883920"/>
            <a:ext cx="8047211" cy="3966214"/>
          </a:xfrm>
        </p:spPr>
        <p:txBody>
          <a:bodyPr/>
          <a:lstStyle/>
          <a:p>
            <a:r>
              <a:rPr lang="fr-FR" b="1" dirty="0"/>
              <a:t>Rôle des trois piliers</a:t>
            </a:r>
          </a:p>
          <a:p>
            <a:pPr lvl="1"/>
            <a:r>
              <a:rPr lang="fr-FR" b="1" dirty="0"/>
              <a:t>Métriques</a:t>
            </a:r>
            <a:endParaRPr lang="fr-FR" dirty="0"/>
          </a:p>
          <a:p>
            <a:pPr lvl="2"/>
            <a:r>
              <a:rPr lang="fr-FR" dirty="0"/>
              <a:t>pics de trafic,</a:t>
            </a:r>
          </a:p>
          <a:p>
            <a:pPr lvl="2"/>
            <a:r>
              <a:rPr lang="fr-FR" dirty="0"/>
              <a:t>saturation suspecte,</a:t>
            </a:r>
          </a:p>
          <a:p>
            <a:pPr lvl="2"/>
            <a:r>
              <a:rPr lang="fr-FR" dirty="0"/>
              <a:t>erreurs anormales.</a:t>
            </a:r>
          </a:p>
          <a:p>
            <a:pPr lvl="1"/>
            <a:r>
              <a:rPr lang="fr-FR" b="1" dirty="0"/>
              <a:t>Logs</a:t>
            </a:r>
            <a:endParaRPr lang="fr-FR" dirty="0"/>
          </a:p>
          <a:p>
            <a:pPr lvl="2"/>
            <a:r>
              <a:rPr lang="fr-FR" dirty="0"/>
              <a:t>actions sensibles,</a:t>
            </a:r>
          </a:p>
          <a:p>
            <a:pPr lvl="2"/>
            <a:r>
              <a:rPr lang="fr-FR" dirty="0"/>
              <a:t>erreurs répétées,</a:t>
            </a:r>
          </a:p>
          <a:p>
            <a:pPr lvl="2"/>
            <a:r>
              <a:rPr lang="fr-FR" dirty="0"/>
              <a:t>événements d’accès.</a:t>
            </a:r>
          </a:p>
          <a:p>
            <a:pPr lvl="1"/>
            <a:r>
              <a:rPr lang="fr-FR" b="1" dirty="0"/>
              <a:t>Traces</a:t>
            </a:r>
            <a:endParaRPr lang="fr-FR" dirty="0"/>
          </a:p>
          <a:p>
            <a:pPr lvl="2"/>
            <a:r>
              <a:rPr lang="fr-FR" dirty="0"/>
              <a:t>parcours anormaux,</a:t>
            </a:r>
          </a:p>
          <a:p>
            <a:pPr lvl="2"/>
            <a:r>
              <a:rPr lang="fr-FR" dirty="0"/>
              <a:t>dépendances inattendues.</a:t>
            </a:r>
          </a:p>
          <a:p>
            <a:r>
              <a:rPr lang="fr-FR" b="1" dirty="0"/>
              <a:t>Corrélation des signaux</a:t>
            </a:r>
          </a:p>
          <a:p>
            <a:pPr lvl="1"/>
            <a:r>
              <a:rPr lang="fr-FR" dirty="0"/>
              <a:t>Déploiement récent + hausse d’erreurs.</a:t>
            </a:r>
          </a:p>
          <a:p>
            <a:pPr lvl="1"/>
            <a:r>
              <a:rPr lang="fr-FR" dirty="0"/>
              <a:t>Accès </a:t>
            </a:r>
            <a:r>
              <a:rPr lang="fr-FR" dirty="0" err="1"/>
              <a:t>admin</a:t>
            </a:r>
            <a:r>
              <a:rPr lang="fr-FR" dirty="0"/>
              <a:t> + appel API inhabituel.</a:t>
            </a:r>
          </a:p>
          <a:p>
            <a:pPr lvl="1"/>
            <a:r>
              <a:rPr lang="fr-FR" dirty="0"/>
              <a:t>Latence + requêtes externes inconnues.</a:t>
            </a:r>
          </a:p>
          <a:p>
            <a:pPr lvl="1"/>
            <a:endParaRPr lang="fr-FR" dirty="0"/>
          </a:p>
          <a:p>
            <a:pPr marL="0" indent="0">
              <a:buNone/>
            </a:pPr>
            <a:r>
              <a:rPr lang="fr-FR" dirty="0"/>
              <a:t>👉 L’observabilité fournit le </a:t>
            </a:r>
            <a:r>
              <a:rPr lang="fr-FR" b="1" dirty="0"/>
              <a:t>contexte</a:t>
            </a:r>
            <a:r>
              <a:rPr lang="fr-FR" dirty="0"/>
              <a:t> indispensable à la sécurité.</a:t>
            </a:r>
          </a:p>
        </p:txBody>
      </p:sp>
    </p:spTree>
    <p:extLst>
      <p:ext uri="{BB962C8B-B14F-4D97-AF65-F5344CB8AC3E}">
        <p14:creationId xmlns:p14="http://schemas.microsoft.com/office/powerpoint/2010/main" val="39259213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Sécurité </a:t>
            </a:r>
            <a:r>
              <a:rPr lang="fr-FR" sz="2400" dirty="0" err="1"/>
              <a:t>runtime</a:t>
            </a:r>
            <a:r>
              <a:rPr lang="fr-FR" sz="2400" dirty="0"/>
              <a:t>, observabilité et SIEM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1800" dirty="0"/>
              <a:t>Le SIEM : corrélation et détection avancée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3360" y="883920"/>
            <a:ext cx="8047211" cy="3851311"/>
          </a:xfrm>
        </p:spPr>
        <p:txBody>
          <a:bodyPr/>
          <a:lstStyle/>
          <a:p>
            <a:r>
              <a:rPr lang="fr-FR" b="1" dirty="0"/>
              <a:t>Rôle du SIEM</a:t>
            </a:r>
          </a:p>
          <a:p>
            <a:pPr lvl="1"/>
            <a:r>
              <a:rPr lang="fr-FR" dirty="0"/>
              <a:t>Centraliser :</a:t>
            </a:r>
          </a:p>
          <a:p>
            <a:pPr lvl="2"/>
            <a:r>
              <a:rPr lang="fr-FR" dirty="0"/>
              <a:t>logs applicatifs,</a:t>
            </a:r>
          </a:p>
          <a:p>
            <a:pPr lvl="2"/>
            <a:r>
              <a:rPr lang="fr-FR" dirty="0"/>
              <a:t>événements </a:t>
            </a:r>
            <a:r>
              <a:rPr lang="fr-FR" dirty="0" err="1"/>
              <a:t>Kubernetes</a:t>
            </a:r>
            <a:r>
              <a:rPr lang="fr-FR" dirty="0"/>
              <a:t>,</a:t>
            </a:r>
          </a:p>
          <a:p>
            <a:pPr lvl="2"/>
            <a:r>
              <a:rPr lang="fr-FR" dirty="0"/>
              <a:t>événements CI/CD,</a:t>
            </a:r>
          </a:p>
          <a:p>
            <a:pPr lvl="2"/>
            <a:r>
              <a:rPr lang="fr-FR" dirty="0"/>
              <a:t>alertes sécurité.</a:t>
            </a:r>
          </a:p>
          <a:p>
            <a:pPr lvl="1"/>
            <a:r>
              <a:rPr lang="fr-FR" dirty="0"/>
              <a:t>Corréler :</a:t>
            </a:r>
          </a:p>
          <a:p>
            <a:pPr lvl="2"/>
            <a:r>
              <a:rPr lang="fr-FR" dirty="0"/>
              <a:t>temps,</a:t>
            </a:r>
          </a:p>
          <a:p>
            <a:pPr lvl="2"/>
            <a:r>
              <a:rPr lang="fr-FR" dirty="0"/>
              <a:t>utilisateur,</a:t>
            </a:r>
          </a:p>
          <a:p>
            <a:pPr lvl="2"/>
            <a:r>
              <a:rPr lang="fr-FR" dirty="0"/>
              <a:t>version,</a:t>
            </a:r>
          </a:p>
          <a:p>
            <a:pPr lvl="2"/>
            <a:r>
              <a:rPr lang="fr-FR" dirty="0"/>
              <a:t>environnement.</a:t>
            </a:r>
          </a:p>
          <a:p>
            <a:r>
              <a:rPr lang="fr-FR" b="1" dirty="0"/>
              <a:t>Exemples de détection</a:t>
            </a:r>
          </a:p>
          <a:p>
            <a:pPr lvl="1"/>
            <a:r>
              <a:rPr lang="fr-FR" dirty="0"/>
              <a:t>Accès </a:t>
            </a:r>
            <a:r>
              <a:rPr lang="fr-FR" dirty="0" err="1"/>
              <a:t>admin</a:t>
            </a:r>
            <a:r>
              <a:rPr lang="fr-FR" dirty="0"/>
              <a:t> juste après un déploiement.</a:t>
            </a:r>
          </a:p>
          <a:p>
            <a:pPr lvl="1"/>
            <a:r>
              <a:rPr lang="fr-FR" dirty="0"/>
              <a:t>Série d’échecs d’authentification suivie d’un succès.</a:t>
            </a:r>
          </a:p>
          <a:p>
            <a:pPr lvl="1"/>
            <a:r>
              <a:rPr lang="fr-FR" dirty="0"/>
              <a:t>Création de </a:t>
            </a:r>
            <a:r>
              <a:rPr lang="fr-FR" dirty="0" err="1"/>
              <a:t>pods</a:t>
            </a:r>
            <a:r>
              <a:rPr lang="fr-FR" dirty="0"/>
              <a:t> non déclarés dans </a:t>
            </a:r>
            <a:r>
              <a:rPr lang="fr-FR" dirty="0" err="1"/>
              <a:t>GitOps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Déviation répétée des </a:t>
            </a:r>
            <a:r>
              <a:rPr lang="fr-FR" dirty="0" err="1"/>
              <a:t>policies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/>
              <a:t>Le SIEM transforme des événements techniques en incidents de sécurité.</a:t>
            </a:r>
          </a:p>
        </p:txBody>
      </p:sp>
    </p:spTree>
    <p:extLst>
      <p:ext uri="{BB962C8B-B14F-4D97-AF65-F5344CB8AC3E}">
        <p14:creationId xmlns:p14="http://schemas.microsoft.com/office/powerpoint/2010/main" val="21900160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Sécurité </a:t>
            </a:r>
            <a:r>
              <a:rPr lang="fr-FR" sz="2400" dirty="0" err="1"/>
              <a:t>runtime</a:t>
            </a:r>
            <a:r>
              <a:rPr lang="fr-FR" sz="2400" dirty="0"/>
              <a:t>, observabilité et SIEM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1800" dirty="0"/>
              <a:t>Réaction, remédiation et boucle de sécurité continue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3360" y="883920"/>
            <a:ext cx="8047211" cy="4017510"/>
          </a:xfrm>
        </p:spPr>
        <p:txBody>
          <a:bodyPr/>
          <a:lstStyle/>
          <a:p>
            <a:r>
              <a:rPr lang="fr-FR" sz="1150" b="1" dirty="0"/>
              <a:t>Réaction aux incidents</a:t>
            </a:r>
          </a:p>
          <a:p>
            <a:pPr lvl="1"/>
            <a:r>
              <a:rPr lang="fr-FR" sz="1150" dirty="0"/>
              <a:t>Alertes priorisées.</a:t>
            </a:r>
          </a:p>
          <a:p>
            <a:pPr lvl="1"/>
            <a:r>
              <a:rPr lang="fr-FR" sz="1150" dirty="0"/>
              <a:t>Investigation rapide grâce au contexte.</a:t>
            </a:r>
          </a:p>
          <a:p>
            <a:pPr lvl="1"/>
            <a:r>
              <a:rPr lang="fr-FR" sz="1150" dirty="0"/>
              <a:t>Décision :</a:t>
            </a:r>
          </a:p>
          <a:p>
            <a:pPr lvl="2"/>
            <a:r>
              <a:rPr lang="fr-FR" sz="1150" dirty="0" err="1"/>
              <a:t>rollback</a:t>
            </a:r>
            <a:r>
              <a:rPr lang="fr-FR" sz="1150" dirty="0"/>
              <a:t>,</a:t>
            </a:r>
          </a:p>
          <a:p>
            <a:pPr lvl="2"/>
            <a:r>
              <a:rPr lang="fr-FR" sz="1150" dirty="0"/>
              <a:t>isolement,</a:t>
            </a:r>
          </a:p>
          <a:p>
            <a:pPr lvl="2"/>
            <a:r>
              <a:rPr lang="fr-FR" sz="1150" dirty="0"/>
              <a:t>blocage d’accès.</a:t>
            </a:r>
          </a:p>
          <a:p>
            <a:r>
              <a:rPr lang="fr-FR" sz="1150" b="1" dirty="0"/>
              <a:t>Remédiation automatisée</a:t>
            </a:r>
          </a:p>
          <a:p>
            <a:pPr lvl="1"/>
            <a:r>
              <a:rPr lang="fr-FR" sz="1150" dirty="0"/>
              <a:t>Auto-</a:t>
            </a:r>
            <a:r>
              <a:rPr lang="fr-FR" sz="1150" dirty="0" err="1"/>
              <a:t>healing</a:t>
            </a:r>
            <a:r>
              <a:rPr lang="fr-FR" sz="1150" dirty="0"/>
              <a:t> </a:t>
            </a:r>
            <a:r>
              <a:rPr lang="fr-FR" sz="1150" dirty="0" err="1"/>
              <a:t>GitOps</a:t>
            </a:r>
            <a:r>
              <a:rPr lang="fr-FR" sz="1150" dirty="0"/>
              <a:t>.</a:t>
            </a:r>
          </a:p>
          <a:p>
            <a:pPr lvl="1"/>
            <a:r>
              <a:rPr lang="fr-FR" sz="1150" dirty="0"/>
              <a:t>Renforcement des </a:t>
            </a:r>
            <a:r>
              <a:rPr lang="fr-FR" sz="1150" dirty="0" err="1"/>
              <a:t>policies</a:t>
            </a:r>
            <a:r>
              <a:rPr lang="fr-FR" sz="1150" dirty="0"/>
              <a:t>.</a:t>
            </a:r>
          </a:p>
          <a:p>
            <a:pPr lvl="1"/>
            <a:r>
              <a:rPr lang="fr-FR" sz="1150" dirty="0"/>
              <a:t>Correction dans le code ou la CI.</a:t>
            </a:r>
          </a:p>
          <a:p>
            <a:r>
              <a:rPr lang="fr-FR" sz="1150" b="1" dirty="0"/>
              <a:t> Boucle </a:t>
            </a:r>
            <a:r>
              <a:rPr lang="fr-FR" sz="1150" b="1" dirty="0" err="1"/>
              <a:t>DevSecOps</a:t>
            </a:r>
            <a:endParaRPr lang="fr-FR" sz="1150" b="1" dirty="0"/>
          </a:p>
          <a:p>
            <a:pPr lvl="1"/>
            <a:r>
              <a:rPr lang="fr-FR" sz="1150" dirty="0"/>
              <a:t>Observer → Détecter → Réagir → Corriger → Prévenir </a:t>
            </a:r>
          </a:p>
          <a:p>
            <a:pPr lvl="1"/>
            <a:r>
              <a:rPr lang="fr-FR" sz="1150" dirty="0"/>
              <a:t>Chaque incident :</a:t>
            </a:r>
          </a:p>
          <a:p>
            <a:pPr lvl="2"/>
            <a:r>
              <a:rPr lang="fr-FR" sz="1150" dirty="0"/>
              <a:t>enrichit les règles,</a:t>
            </a:r>
          </a:p>
          <a:p>
            <a:pPr lvl="2"/>
            <a:r>
              <a:rPr lang="fr-FR" sz="1150" dirty="0"/>
              <a:t>améliore les contrôles,</a:t>
            </a:r>
          </a:p>
          <a:p>
            <a:pPr lvl="2"/>
            <a:r>
              <a:rPr lang="fr-FR" sz="1150" dirty="0"/>
              <a:t>renforce la plateforme.</a:t>
            </a:r>
          </a:p>
          <a:p>
            <a:r>
              <a:rPr lang="fr-FR" sz="1150" dirty="0"/>
              <a:t>👉 La sécurité devient </a:t>
            </a:r>
            <a:r>
              <a:rPr lang="fr-FR" sz="1150" b="1" dirty="0"/>
              <a:t>un système apprenant</a:t>
            </a:r>
            <a:r>
              <a:rPr lang="fr-FR" sz="1150" dirty="0"/>
              <a:t>, pas un contrôle figé.</a:t>
            </a:r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6088380" y="1415550"/>
            <a:ext cx="2872740" cy="17912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>
            <a:lvl1pPr marL="237384" indent="-237384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9597"/>
              </a:buClr>
              <a:buSzPct val="100000"/>
              <a:buFont typeface="Arial" panose="020B0604020202020204" pitchFamily="34" charset="0"/>
              <a:buChar char="►"/>
              <a:defRPr sz="1200" b="0" kern="1200" baseline="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1pPr>
            <a:lvl2pPr marL="514331" indent="-19782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Tx/>
              <a:buSzPct val="75000"/>
              <a:buFont typeface="Arial" panose="020B0604020202020204" pitchFamily="34" charset="0"/>
              <a:buChar char="•"/>
              <a:defRPr sz="1200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2pPr>
            <a:lvl3pPr marL="791279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597"/>
              </a:buClr>
              <a:buSzPct val="60000"/>
              <a:buFont typeface="Arial" pitchFamily="34" charset="0"/>
              <a:buChar char="•"/>
              <a:defRPr sz="1200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3pPr>
            <a:lvl4pPr marL="1107791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tx1">
                  <a:lumMod val="75000"/>
                </a:schemeClr>
              </a:buClr>
              <a:buFont typeface="Arial" pitchFamily="34" charset="0"/>
              <a:buChar char="•"/>
              <a:defRPr sz="1200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4pPr>
            <a:lvl5pPr marL="1424303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597"/>
              </a:buClr>
              <a:buFont typeface="Arial" pitchFamily="34" charset="0"/>
              <a:buChar char="•"/>
              <a:defRPr sz="1200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/>
              <a:t>La sécurité parfaite n’existe pas</a:t>
            </a:r>
            <a:endParaRPr lang="fr-FR" dirty="0"/>
          </a:p>
          <a:p>
            <a:r>
              <a:rPr lang="fr-FR" dirty="0"/>
              <a:t>Tout n’est pas évitable :</a:t>
            </a:r>
          </a:p>
          <a:p>
            <a:pPr lvl="1"/>
            <a:r>
              <a:rPr lang="fr-FR" dirty="0"/>
              <a:t>bugs </a:t>
            </a:r>
            <a:r>
              <a:rPr lang="fr-FR" dirty="0" err="1"/>
              <a:t>zero-day</a:t>
            </a:r>
            <a:endParaRPr lang="fr-FR" dirty="0"/>
          </a:p>
          <a:p>
            <a:pPr lvl="1"/>
            <a:r>
              <a:rPr lang="fr-FR" dirty="0"/>
              <a:t>erreurs humaines</a:t>
            </a:r>
          </a:p>
          <a:p>
            <a:r>
              <a:rPr lang="fr-FR" dirty="0"/>
              <a:t>Ce qui compte :</a:t>
            </a:r>
          </a:p>
          <a:p>
            <a:pPr lvl="1"/>
            <a:r>
              <a:rPr lang="fr-FR" dirty="0"/>
              <a:t>détecter vite</a:t>
            </a:r>
          </a:p>
          <a:p>
            <a:pPr lvl="1"/>
            <a:r>
              <a:rPr lang="fr-FR" dirty="0"/>
              <a:t>contenir</a:t>
            </a:r>
          </a:p>
          <a:p>
            <a:pPr lvl="1"/>
            <a:r>
              <a:rPr lang="fr-FR" dirty="0"/>
              <a:t>apprendre</a:t>
            </a:r>
          </a:p>
        </p:txBody>
      </p:sp>
    </p:spTree>
    <p:extLst>
      <p:ext uri="{BB962C8B-B14F-4D97-AF65-F5344CB8AC3E}">
        <p14:creationId xmlns:p14="http://schemas.microsoft.com/office/powerpoint/2010/main" val="42367940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dirty="0"/>
              <a:t>Étude de cas &amp; synthèse du Module 6 : Sécurité &amp; </a:t>
            </a:r>
            <a:r>
              <a:rPr lang="fr-FR" sz="2000" dirty="0" err="1"/>
              <a:t>DevSecOps</a:t>
            </a:r>
            <a:r>
              <a:rPr lang="fr-FR" sz="2000" dirty="0"/>
              <a:t>.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1800" dirty="0"/>
              <a:t>Étude de cas : chaîne </a:t>
            </a:r>
            <a:r>
              <a:rPr lang="fr-FR" sz="1800" dirty="0" err="1"/>
              <a:t>DevSecOps</a:t>
            </a:r>
            <a:r>
              <a:rPr lang="fr-FR" sz="1800" dirty="0"/>
              <a:t> complète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3360" y="1089660"/>
            <a:ext cx="8047211" cy="3697422"/>
          </a:xfrm>
        </p:spPr>
        <p:txBody>
          <a:bodyPr/>
          <a:lstStyle/>
          <a:p>
            <a:r>
              <a:rPr lang="fr-FR" b="1" dirty="0"/>
              <a:t>Contexte</a:t>
            </a:r>
          </a:p>
          <a:p>
            <a:pPr lvl="1"/>
            <a:r>
              <a:rPr lang="fr-FR" dirty="0"/>
              <a:t>Application métier exposée via API.</a:t>
            </a:r>
          </a:p>
          <a:p>
            <a:pPr lvl="1"/>
            <a:r>
              <a:rPr lang="fr-FR" dirty="0"/>
              <a:t>Déploiement continu via </a:t>
            </a:r>
            <a:r>
              <a:rPr lang="fr-FR" b="1" dirty="0"/>
              <a:t>CI/CD + </a:t>
            </a:r>
            <a:r>
              <a:rPr lang="fr-FR" b="1" dirty="0" err="1"/>
              <a:t>GitOps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Environnement </a:t>
            </a:r>
            <a:r>
              <a:rPr lang="fr-FR" dirty="0" err="1"/>
              <a:t>Kubernetes</a:t>
            </a:r>
            <a:r>
              <a:rPr lang="fr-FR" dirty="0"/>
              <a:t> en production.</a:t>
            </a:r>
          </a:p>
          <a:p>
            <a:pPr lvl="1"/>
            <a:r>
              <a:rPr lang="fr-FR" dirty="0"/>
              <a:t>Exigences fortes :</a:t>
            </a:r>
          </a:p>
          <a:p>
            <a:pPr lvl="2"/>
            <a:r>
              <a:rPr lang="fr-FR" dirty="0"/>
              <a:t>disponibilité,</a:t>
            </a:r>
          </a:p>
          <a:p>
            <a:pPr lvl="2"/>
            <a:r>
              <a:rPr lang="fr-FR" dirty="0"/>
              <a:t>sécurité,</a:t>
            </a:r>
          </a:p>
          <a:p>
            <a:pPr lvl="2"/>
            <a:r>
              <a:rPr lang="fr-FR" dirty="0"/>
              <a:t>traçabilité,</a:t>
            </a:r>
          </a:p>
          <a:p>
            <a:pPr lvl="2"/>
            <a:r>
              <a:rPr lang="fr-FR" dirty="0"/>
              <a:t>conformité.</a:t>
            </a:r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marL="633022" lvl="2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👉 La sécurité est présente </a:t>
            </a:r>
            <a:r>
              <a:rPr lang="fr-FR" b="1" dirty="0"/>
              <a:t>à chaque étape</a:t>
            </a:r>
            <a:r>
              <a:rPr lang="fr-FR" dirty="0"/>
              <a:t>, sans rupture, on a sécurisé le flux.</a:t>
            </a:r>
          </a:p>
          <a:p>
            <a:pPr lvl="2"/>
            <a:endParaRPr lang="fr-FR" dirty="0"/>
          </a:p>
        </p:txBody>
      </p:sp>
      <p:graphicFrame>
        <p:nvGraphicFramePr>
          <p:cNvPr id="7" name="Diagramme 6"/>
          <p:cNvGraphicFramePr/>
          <p:nvPr>
            <p:extLst>
              <p:ext uri="{D42A27DB-BD31-4B8C-83A1-F6EECF244321}">
                <p14:modId xmlns:p14="http://schemas.microsoft.com/office/powerpoint/2010/main" val="2897601072"/>
              </p:ext>
            </p:extLst>
          </p:nvPr>
        </p:nvGraphicFramePr>
        <p:xfrm>
          <a:off x="627885" y="3095610"/>
          <a:ext cx="8371335" cy="1125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03065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dirty="0"/>
              <a:t>Étude de cas &amp; synthèse du Module 6 : Sécurité &amp; </a:t>
            </a:r>
            <a:r>
              <a:rPr lang="fr-FR" sz="2000" dirty="0" err="1"/>
              <a:t>DevSecOps</a:t>
            </a:r>
            <a:r>
              <a:rPr lang="fr-FR" sz="2000" dirty="0"/>
              <a:t>.</a:t>
            </a:r>
            <a:r>
              <a:rPr lang="fr-FR" sz="3600" dirty="0"/>
              <a:t/>
            </a:r>
            <a:br>
              <a:rPr lang="fr-FR" sz="3600" dirty="0"/>
            </a:br>
            <a:r>
              <a:rPr lang="fr-FR" sz="1800" dirty="0"/>
              <a:t>Incident simulé : détection, réaction et amélioration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3360" y="1089660"/>
            <a:ext cx="8047211" cy="3313728"/>
          </a:xfrm>
        </p:spPr>
        <p:txBody>
          <a:bodyPr/>
          <a:lstStyle/>
          <a:p>
            <a:r>
              <a:rPr lang="fr-FR" b="1" dirty="0"/>
              <a:t>Scénario</a:t>
            </a:r>
          </a:p>
          <a:p>
            <a:pPr lvl="1"/>
            <a:r>
              <a:rPr lang="fr-FR" dirty="0"/>
              <a:t>Nouvelle version déployée.</a:t>
            </a:r>
          </a:p>
          <a:p>
            <a:pPr lvl="1"/>
            <a:r>
              <a:rPr lang="fr-FR" dirty="0"/>
              <a:t>Comportement anormal détecté :</a:t>
            </a:r>
          </a:p>
          <a:p>
            <a:pPr lvl="2"/>
            <a:r>
              <a:rPr lang="fr-FR" dirty="0"/>
              <a:t>appels externes inattendus,</a:t>
            </a:r>
          </a:p>
          <a:p>
            <a:pPr lvl="2"/>
            <a:r>
              <a:rPr lang="fr-FR" dirty="0"/>
              <a:t>hausse de latence,</a:t>
            </a:r>
          </a:p>
          <a:p>
            <a:pPr lvl="2"/>
            <a:r>
              <a:rPr lang="fr-FR" dirty="0"/>
              <a:t>logs suspects.</a:t>
            </a:r>
          </a:p>
          <a:p>
            <a:r>
              <a:rPr lang="fr-FR" b="1" dirty="0"/>
              <a:t>Détection</a:t>
            </a:r>
          </a:p>
          <a:p>
            <a:pPr lvl="1"/>
            <a:r>
              <a:rPr lang="fr-FR" dirty="0"/>
              <a:t>Observabilité :</a:t>
            </a:r>
          </a:p>
          <a:p>
            <a:pPr lvl="2"/>
            <a:r>
              <a:rPr lang="fr-FR" dirty="0"/>
              <a:t>métriques (saturation),</a:t>
            </a:r>
          </a:p>
          <a:p>
            <a:pPr lvl="2"/>
            <a:r>
              <a:rPr lang="fr-FR" dirty="0"/>
              <a:t>logs (erreurs répétées),</a:t>
            </a:r>
          </a:p>
          <a:p>
            <a:pPr lvl="2"/>
            <a:r>
              <a:rPr lang="fr-FR" dirty="0"/>
              <a:t>traces (flux anormal).</a:t>
            </a:r>
          </a:p>
          <a:p>
            <a:pPr lvl="1"/>
            <a:r>
              <a:rPr lang="fr-FR" dirty="0"/>
              <a:t>SIEM :</a:t>
            </a:r>
          </a:p>
          <a:p>
            <a:pPr lvl="2"/>
            <a:r>
              <a:rPr lang="fr-FR" dirty="0"/>
              <a:t>corrélation avec le déploiement,</a:t>
            </a:r>
          </a:p>
          <a:p>
            <a:pPr lvl="2"/>
            <a:r>
              <a:rPr lang="fr-FR" dirty="0"/>
              <a:t>détection d’un pattern suspect.</a:t>
            </a:r>
          </a:p>
          <a:p>
            <a:endParaRPr lang="fr-FR" dirty="0"/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5013960" y="1470660"/>
            <a:ext cx="3977640" cy="30295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7384" indent="-237384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9597"/>
              </a:buClr>
              <a:buSzPct val="100000"/>
              <a:buFont typeface="Arial" panose="020B0604020202020204" pitchFamily="34" charset="0"/>
              <a:buChar char="►"/>
              <a:defRPr sz="1350" b="0" kern="1200" baseline="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1pPr>
            <a:lvl2pPr marL="514331" indent="-19782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Tx/>
              <a:buSzPct val="75000"/>
              <a:buFont typeface="Arial" panose="020B0604020202020204" pitchFamily="34" charset="0"/>
              <a:buChar char="►"/>
              <a:defRPr sz="1246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2pPr>
            <a:lvl3pPr marL="791279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597"/>
              </a:buClr>
              <a:buSzPct val="60000"/>
              <a:buFont typeface="Wingdings" pitchFamily="2" charset="2"/>
              <a:buChar char=""/>
              <a:defRPr sz="1108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3pPr>
            <a:lvl4pPr marL="1107791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tx1">
                  <a:lumMod val="75000"/>
                </a:schemeClr>
              </a:buClr>
              <a:buFont typeface="Wingdings" charset="2"/>
              <a:buChar char="§"/>
              <a:defRPr sz="1108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4pPr>
            <a:lvl5pPr marL="1424303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597"/>
              </a:buClr>
              <a:buFont typeface="Wingdings" charset="2"/>
              <a:buChar char="§"/>
              <a:defRPr sz="1108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b="1" dirty="0"/>
              <a:t>Réaction</a:t>
            </a:r>
          </a:p>
          <a:p>
            <a:pPr lvl="1"/>
            <a:r>
              <a:rPr lang="fr-FR" sz="1200" dirty="0"/>
              <a:t>Alerte priorisée.</a:t>
            </a:r>
          </a:p>
          <a:p>
            <a:pPr lvl="1"/>
            <a:r>
              <a:rPr lang="fr-FR" sz="1200" dirty="0" err="1"/>
              <a:t>Rollback</a:t>
            </a:r>
            <a:r>
              <a:rPr lang="fr-FR" sz="1200" dirty="0"/>
              <a:t> </a:t>
            </a:r>
            <a:r>
              <a:rPr lang="fr-FR" sz="1200" dirty="0" err="1"/>
              <a:t>GitOps</a:t>
            </a:r>
            <a:r>
              <a:rPr lang="fr-FR" sz="1200" dirty="0"/>
              <a:t>.</a:t>
            </a:r>
          </a:p>
          <a:p>
            <a:pPr lvl="1"/>
            <a:r>
              <a:rPr lang="fr-FR" sz="1200" dirty="0"/>
              <a:t>Blocage temporaire via </a:t>
            </a:r>
            <a:r>
              <a:rPr lang="fr-FR" sz="1200" dirty="0" err="1"/>
              <a:t>policy</a:t>
            </a:r>
            <a:r>
              <a:rPr lang="fr-FR" sz="1200" dirty="0"/>
              <a:t>.</a:t>
            </a:r>
          </a:p>
          <a:p>
            <a:pPr lvl="1"/>
            <a:r>
              <a:rPr lang="fr-FR" sz="1200" dirty="0"/>
              <a:t>Investigation guidée par le SIEM.</a:t>
            </a:r>
          </a:p>
          <a:p>
            <a:pPr lvl="1"/>
            <a:endParaRPr lang="fr-FR" sz="1200" dirty="0"/>
          </a:p>
          <a:p>
            <a:r>
              <a:rPr lang="fr-FR" sz="1200" b="1" dirty="0"/>
              <a:t>Amélioration</a:t>
            </a:r>
          </a:p>
          <a:p>
            <a:pPr lvl="1"/>
            <a:r>
              <a:rPr lang="fr-FR" sz="1200" dirty="0"/>
              <a:t>Règle Policy as Code renforcée.</a:t>
            </a:r>
          </a:p>
          <a:p>
            <a:pPr lvl="1"/>
            <a:r>
              <a:rPr lang="fr-FR" sz="1200" dirty="0"/>
              <a:t>Nouveau contrôle CI ajouté.</a:t>
            </a:r>
          </a:p>
          <a:p>
            <a:pPr lvl="1"/>
            <a:r>
              <a:rPr lang="fr-FR" sz="1200" dirty="0"/>
              <a:t>Documentation et post-mortem sans blâme.</a:t>
            </a:r>
          </a:p>
        </p:txBody>
      </p:sp>
    </p:spTree>
    <p:extLst>
      <p:ext uri="{BB962C8B-B14F-4D97-AF65-F5344CB8AC3E}">
        <p14:creationId xmlns:p14="http://schemas.microsoft.com/office/powerpoint/2010/main" val="28580880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dirty="0"/>
              <a:t>Synthèse du Module 6 : ce qu’il faut retenir</a:t>
            </a:r>
            <a:r>
              <a:rPr lang="fr-FR" sz="3600" dirty="0"/>
              <a:t/>
            </a:r>
            <a:br>
              <a:rPr lang="fr-FR" sz="3600" dirty="0"/>
            </a:br>
            <a:endParaRPr lang="fr-FR" sz="1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7640" y="1319545"/>
            <a:ext cx="8047211" cy="2661241"/>
          </a:xfrm>
        </p:spPr>
        <p:txBody>
          <a:bodyPr/>
          <a:lstStyle/>
          <a:p>
            <a:r>
              <a:rPr lang="fr-FR" b="1" dirty="0"/>
              <a:t>La sécurité :</a:t>
            </a:r>
          </a:p>
          <a:p>
            <a:pPr lvl="1"/>
            <a:r>
              <a:rPr lang="fr-FR" dirty="0"/>
              <a:t>n’est pas une étape,</a:t>
            </a:r>
          </a:p>
          <a:p>
            <a:pPr lvl="1"/>
            <a:r>
              <a:rPr lang="fr-FR" dirty="0"/>
              <a:t>n’est pas un audit,</a:t>
            </a:r>
          </a:p>
          <a:p>
            <a:pPr lvl="1"/>
            <a:r>
              <a:rPr lang="fr-FR" dirty="0"/>
              <a:t>n’est pas un silo.</a:t>
            </a:r>
          </a:p>
          <a:p>
            <a:pPr lvl="1"/>
            <a:endParaRPr lang="fr-FR" dirty="0"/>
          </a:p>
          <a:p>
            <a:r>
              <a:rPr lang="fr-FR" dirty="0"/>
              <a:t>Elle est :</a:t>
            </a:r>
          </a:p>
          <a:p>
            <a:pPr lvl="1"/>
            <a:r>
              <a:rPr lang="fr-FR" dirty="0"/>
              <a:t>continue,</a:t>
            </a:r>
          </a:p>
          <a:p>
            <a:pPr lvl="1"/>
            <a:r>
              <a:rPr lang="fr-FR" dirty="0"/>
              <a:t>automatisée,</a:t>
            </a:r>
          </a:p>
          <a:p>
            <a:pPr lvl="1"/>
            <a:r>
              <a:rPr lang="fr-FR" dirty="0"/>
              <a:t>mesurable,</a:t>
            </a:r>
          </a:p>
          <a:p>
            <a:pPr lvl="1"/>
            <a:r>
              <a:rPr lang="fr-FR" dirty="0"/>
              <a:t>auditée par le code.</a:t>
            </a:r>
          </a:p>
          <a:p>
            <a:pPr lvl="1"/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4152900" y="1135380"/>
            <a:ext cx="4838700" cy="30295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7384" indent="-237384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9597"/>
              </a:buClr>
              <a:buSzPct val="100000"/>
              <a:buFont typeface="Arial" panose="020B0604020202020204" pitchFamily="34" charset="0"/>
              <a:buChar char="►"/>
              <a:defRPr sz="1350" b="0" kern="1200" baseline="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1pPr>
            <a:lvl2pPr marL="514331" indent="-19782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Tx/>
              <a:buSzPct val="75000"/>
              <a:buFont typeface="Arial" panose="020B0604020202020204" pitchFamily="34" charset="0"/>
              <a:buChar char="►"/>
              <a:defRPr sz="1246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2pPr>
            <a:lvl3pPr marL="791279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597"/>
              </a:buClr>
              <a:buSzPct val="60000"/>
              <a:buFont typeface="Wingdings" pitchFamily="2" charset="2"/>
              <a:buChar char=""/>
              <a:defRPr sz="1108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3pPr>
            <a:lvl4pPr marL="1107791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tx1">
                  <a:lumMod val="75000"/>
                </a:schemeClr>
              </a:buClr>
              <a:buFont typeface="Wingdings" charset="2"/>
              <a:buChar char="§"/>
              <a:defRPr sz="1108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4pPr>
            <a:lvl5pPr marL="1424303" indent="-158257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597"/>
              </a:buClr>
              <a:buFont typeface="Wingdings" charset="2"/>
              <a:buChar char="§"/>
              <a:defRPr sz="1108" kern="1200">
                <a:solidFill>
                  <a:srgbClr val="485155"/>
                </a:solidFill>
                <a:latin typeface="Arial"/>
                <a:ea typeface="+mn-ea"/>
                <a:cs typeface="Arial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b="1" dirty="0"/>
              <a:t> Piliers du </a:t>
            </a:r>
            <a:r>
              <a:rPr lang="fr-FR" sz="1200" b="1" dirty="0" err="1"/>
              <a:t>DevSecOps</a:t>
            </a:r>
            <a:endParaRPr lang="fr-FR" sz="1200" b="1" dirty="0"/>
          </a:p>
          <a:p>
            <a:pPr lvl="1"/>
            <a:r>
              <a:rPr lang="fr-FR" sz="1096" dirty="0"/>
              <a:t>Security by Design.</a:t>
            </a:r>
          </a:p>
          <a:p>
            <a:pPr lvl="1"/>
            <a:r>
              <a:rPr lang="fr-FR" sz="1096" dirty="0"/>
              <a:t>Shift </a:t>
            </a:r>
            <a:r>
              <a:rPr lang="fr-FR" sz="1096" dirty="0" err="1"/>
              <a:t>Left</a:t>
            </a:r>
            <a:r>
              <a:rPr lang="fr-FR" sz="1096" dirty="0"/>
              <a:t> &amp; Shift Right.</a:t>
            </a:r>
          </a:p>
          <a:p>
            <a:pPr lvl="1"/>
            <a:r>
              <a:rPr lang="fr-FR" sz="1096" dirty="0"/>
              <a:t>Automatisation des contrôles.</a:t>
            </a:r>
          </a:p>
          <a:p>
            <a:pPr lvl="1"/>
            <a:r>
              <a:rPr lang="fr-FR" sz="1096" dirty="0"/>
              <a:t>Obser</a:t>
            </a:r>
            <a:r>
              <a:rPr lang="fr-FR" sz="1200" dirty="0"/>
              <a:t>vabilité &amp; SIEM.</a:t>
            </a:r>
          </a:p>
          <a:p>
            <a:pPr lvl="1"/>
            <a:r>
              <a:rPr lang="fr-FR" sz="1200" dirty="0"/>
              <a:t>Amélioration continue.</a:t>
            </a:r>
          </a:p>
          <a:p>
            <a:pPr lvl="1"/>
            <a:endParaRPr lang="fr-FR" sz="1200" dirty="0"/>
          </a:p>
          <a:p>
            <a:r>
              <a:rPr lang="fr-FR" sz="1200" dirty="0" err="1"/>
              <a:t>DevOps</a:t>
            </a:r>
            <a:r>
              <a:rPr lang="fr-FR" sz="1200" dirty="0"/>
              <a:t> :</a:t>
            </a:r>
          </a:p>
          <a:p>
            <a:pPr lvl="1"/>
            <a:r>
              <a:rPr lang="fr-FR" sz="1200" dirty="0"/>
              <a:t>transforme la relation au risque</a:t>
            </a:r>
          </a:p>
          <a:p>
            <a:pPr lvl="1"/>
            <a:r>
              <a:rPr lang="fr-FR" sz="1200" dirty="0"/>
              <a:t>rend le changement banal</a:t>
            </a:r>
          </a:p>
          <a:p>
            <a:pPr lvl="1"/>
            <a:r>
              <a:rPr lang="fr-FR" sz="1200" dirty="0"/>
              <a:t>responsabilise les équipes</a:t>
            </a:r>
          </a:p>
          <a:p>
            <a:pPr lvl="1"/>
            <a:endParaRPr lang="fr-FR" sz="1200" dirty="0"/>
          </a:p>
          <a:p>
            <a:r>
              <a:rPr lang="fr-FR" sz="1200" dirty="0" err="1"/>
              <a:t>DevSecOps</a:t>
            </a:r>
            <a:r>
              <a:rPr lang="fr-FR" sz="1200" dirty="0"/>
              <a:t> :</a:t>
            </a:r>
          </a:p>
          <a:p>
            <a:pPr lvl="1"/>
            <a:r>
              <a:rPr lang="fr-FR" sz="1200" dirty="0"/>
              <a:t>rend la sécurité continue</a:t>
            </a:r>
          </a:p>
          <a:p>
            <a:pPr lvl="1"/>
            <a:r>
              <a:rPr lang="fr-FR" sz="1200" dirty="0"/>
              <a:t>mesurable</a:t>
            </a:r>
          </a:p>
          <a:p>
            <a:pPr lvl="1"/>
            <a:r>
              <a:rPr lang="fr-FR" sz="1200" dirty="0"/>
              <a:t>gouvernée</a:t>
            </a:r>
          </a:p>
          <a:p>
            <a:pPr lvl="1"/>
            <a:endParaRPr lang="fr-FR" sz="1096" dirty="0"/>
          </a:p>
          <a:p>
            <a:pPr marL="0" indent="0">
              <a:buNone/>
            </a:pP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7668912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&gt;&lt;version val=&quot;17192&quot;/&gt;&lt;partner val=&quot;610&quot;/&gt;&lt;CPresentation id=&quot;1&quot;&gt;&lt;m_defprecNumber idref=&quot;2&quot;/&gt;&lt;m_defprecPercent idref=&quot;3&quot;/&gt;&lt;m_defprecDate idref=&quot;4&quot;/&gt;&lt;m_defprecYear idref=&quot;5&quot;/&gt;&lt;m_defprecQuarter idref=&quot;6&quot;/&gt;&lt;m_defprecMonth idref=&quot;7&quot;/&gt;&lt;m_defprecWeek idref=&quot;8&quot;/&gt;&lt;m_defprecDay idref=&quot;9&quot;/&gt;&lt;m_eweekdayFirstOfWeek val=&quot;2&quot;/&gt;&lt;m_mruColor&gt;&lt;m_vecMRU length=&quot;0&quot;/&gt;&lt;/m_mruColor&gt;&lt;/CPresentation&gt;&lt;CDefaultPrec id=&quot;9&quot;&gt;&lt;m_precDefault/&gt;&lt;/CDefaultPrec&gt;&lt;CDefaultPrec id=&quot;8&quot;&gt;&lt;m_precDefault/&gt;&lt;/CDefaultPrec&gt;&lt;CDefaultPrec id=&quot;7&quot;&gt;&lt;m_precDefault/&gt;&lt;/CDefaultPrec&gt;&lt;CDefaultPrec id=&quot;6&quot;&gt;&lt;m_precDefault/&gt;&lt;/CDefaultPrec&gt;&lt;CDefaultPrec id=&quot;5&quot;&gt;&lt;m_precDefault/&gt;&lt;/CDefaultPrec&gt;&lt;CDefaultPrec id=&quot;4&quot;&gt;&lt;m_precDefault/&gt;&lt;/CDefaultPrec&gt;&lt;CDefaultPrec id=&quot;3&quot;&gt;&lt;m_precDefault/&gt;&lt;/CDefaultPrec&gt;&lt;CDefaultPrec id=&quot;2&quot;&gt;&lt;m_precDefault&gt;&lt;m_chDecimalSymbol&gt;,&lt;/m_chDecimalSymbol&gt;&lt;m_nGroupingDigits val=&quot;3&quot;/&gt;&lt;m_chGroupingSymbol&gt;.&lt;/m_chGroupingSymbol&gt;&lt;/m_precDefault&gt;&lt;/CDefaultPrec&gt;&lt;/root&gt;"/>
  <p:tag name="THINKCELLUNDODONOTDELETE" val="28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1">
      <a:majorFont>
        <a:latin typeface="Gotham Bold"/>
        <a:ea typeface=""/>
        <a:cs typeface=""/>
      </a:majorFont>
      <a:minorFont>
        <a:latin typeface="Gotha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c04842-e236-415d-8f7e-a24afe8e9967">
      <Terms xmlns="http://schemas.microsoft.com/office/infopath/2007/PartnerControls"/>
    </lcf76f155ced4ddcb4097134ff3c332f>
    <TaxCatchAll xmlns="e24868e2-9e8a-477a-81c3-86220c38e5a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A6A34606179B428CCD588D6092A603" ma:contentTypeVersion="12" ma:contentTypeDescription="Crée un document." ma:contentTypeScope="" ma:versionID="7b683815daf67284c2fb09d69d27e23e">
  <xsd:schema xmlns:xsd="http://www.w3.org/2001/XMLSchema" xmlns:xs="http://www.w3.org/2001/XMLSchema" xmlns:p="http://schemas.microsoft.com/office/2006/metadata/properties" xmlns:ns2="edc04842-e236-415d-8f7e-a24afe8e9967" xmlns:ns3="e24868e2-9e8a-477a-81c3-86220c38e5a2" targetNamespace="http://schemas.microsoft.com/office/2006/metadata/properties" ma:root="true" ma:fieldsID="d712f7de4ee33d67d88fc39eba0dce2c" ns2:_="" ns3:_="">
    <xsd:import namespace="edc04842-e236-415d-8f7e-a24afe8e9967"/>
    <xsd:import namespace="e24868e2-9e8a-477a-81c3-86220c38e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c04842-e236-415d-8f7e-a24afe8e99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cb4e1ff1-4910-4b26-8f48-d1ddcd02db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868e2-9e8a-477a-81c3-86220c38e5a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544db69-ef83-4eb6-b0c5-0e161c41d3bd}" ma:internalName="TaxCatchAll" ma:showField="CatchAllData" ma:web="e24868e2-9e8a-477a-81c3-86220c38e5a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E3FE3B-CF8C-4C08-AA63-08901AB111E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C8454E-D68F-4B6F-8966-4937A61E9412}">
  <ds:schemaRefs>
    <ds:schemaRef ds:uri="http://purl.org/dc/elements/1.1/"/>
    <ds:schemaRef ds:uri="http://schemas.microsoft.com/office/2006/metadata/properties"/>
    <ds:schemaRef ds:uri="e24868e2-9e8a-477a-81c3-86220c38e5a2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dcmitype/"/>
    <ds:schemaRef ds:uri="edc04842-e236-415d-8f7e-a24afe8e9967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58F4795-375C-4D09-A760-2C80A68B044A}">
  <ds:schemaRefs>
    <ds:schemaRef ds:uri="e24868e2-9e8a-477a-81c3-86220c38e5a2"/>
    <ds:schemaRef ds:uri="edc04842-e236-415d-8f7e-a24afe8e99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 2007 vierge</Template>
  <TotalTime>36892</TotalTime>
  <Words>2707</Words>
  <Application>Microsoft Office PowerPoint</Application>
  <PresentationFormat>Affichage à l'écran (16:9)</PresentationFormat>
  <Paragraphs>658</Paragraphs>
  <Slides>38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39" baseType="lpstr">
      <vt:lpstr>Thème Office</vt:lpstr>
      <vt:lpstr>Présentation PowerPoint</vt:lpstr>
      <vt:lpstr>SOMMAIRE</vt:lpstr>
      <vt:lpstr>Présentation PowerPoint</vt:lpstr>
      <vt:lpstr>Kit de démarrage</vt:lpstr>
      <vt:lpstr>xxx</vt:lpstr>
      <vt:lpstr>xxx</vt:lpstr>
      <vt:lpstr>xxx</vt:lpstr>
      <vt:lpstr>xxx</vt:lpstr>
      <vt:lpstr>Introduction au DevSecOps et à la Security by Design Pourquoi la sécurité doit évoluer</vt:lpstr>
      <vt:lpstr>Introduction au DevSecOps et à la Security by Design DevSecOps : définition et principes</vt:lpstr>
      <vt:lpstr>Introduction au DevSecOps et à la Security by Design Security by Design : intégrer la sécurité dès l’amont</vt:lpstr>
      <vt:lpstr>Introduction au DevSecOps et à la Security by Design Le ruban de Moebius DevOps et la sécurité continue</vt:lpstr>
      <vt:lpstr>Introduction au DevSecOps et à la Security by Design Les anti-patterns DevSecOps</vt:lpstr>
      <vt:lpstr>Introduction au DevSecOps et à la Security by Design Bénéfices et impacts du DevSecOps</vt:lpstr>
      <vt:lpstr>Sécurité dans la CI (code, dépendances, artefacts) Pourquoi sécuriser dès l’intégration continue</vt:lpstr>
      <vt:lpstr>Sécurité dans la CI (code, dépendances, artefacts) Sécurité du code : SAST et bonnes pratiques</vt:lpstr>
      <vt:lpstr>Sécurité dans la CI (code, dépendances, artefacts) Sécurité des dépendances : SCA</vt:lpstr>
      <vt:lpstr>Sécurité dans la CI (code, dépendances, artefacts) Sécurité des artefacts : intégrité et traçabilité</vt:lpstr>
      <vt:lpstr>Sécurité dans la CI (code, dépendances, artefacts) Signature d’artefacts et Supply Chain Security</vt:lpstr>
      <vt:lpstr>Sécurité dans la CD et le GitOps. Pourquoi la phase de déploiement est critique</vt:lpstr>
      <vt:lpstr>Sécurité dans la CD et le GitOps. Sécurité de la CD : modèle push vs modèle GitOps</vt:lpstr>
      <vt:lpstr>Sécurité dans la CD et le GitOps. Sécurisation des manifests et configurations</vt:lpstr>
      <vt:lpstr>Sécurité dans la CD et le GitOps. Policy as Code dans la CD</vt:lpstr>
      <vt:lpstr>Sécurité dans la CD et le GitOps. Sécurité des environnements et des accès</vt:lpstr>
      <vt:lpstr>Sécurité dans la CD et le GitOps. Moins d’accès humains = plus de sécurité</vt:lpstr>
      <vt:lpstr>Policy as Code et gouvernance sécurité Pourquoi la gouvernance est indispensable en DevSecOps ?</vt:lpstr>
      <vt:lpstr>Policy as Code et gouvernance sécurité Policy as Code : principe et bénéfices</vt:lpstr>
      <vt:lpstr>Policy as Code et gouvernance sécurité Outils et moteurs de Policy as Code</vt:lpstr>
      <vt:lpstr>Policy as Code et gouvernance sécurité Gouvernance sécurité dans la CI/CD et le GitOps</vt:lpstr>
      <vt:lpstr>Policy as Code et gouvernance sécurité Conformité, audit et amélioration continue</vt:lpstr>
      <vt:lpstr>Sécurité runtime, observabilité et SIEM Pourquoi la sécurité runtime est indispensable</vt:lpstr>
      <vt:lpstr>Sécurité runtime, observabilité et SIEM Sécurité runtime : ce que l’on surveille réellement</vt:lpstr>
      <vt:lpstr>Sécurité runtime, observabilité et SIEM Observabilité au service de la sécurité runtime</vt:lpstr>
      <vt:lpstr>Sécurité runtime, observabilité et SIEM Le SIEM : corrélation et détection avancée</vt:lpstr>
      <vt:lpstr>Sécurité runtime, observabilité et SIEM Réaction, remédiation et boucle de sécurité continue</vt:lpstr>
      <vt:lpstr>Étude de cas &amp; synthèse du Module 6 : Sécurité &amp; DevSecOps. Étude de cas : chaîne DevSecOps complète</vt:lpstr>
      <vt:lpstr>Étude de cas &amp; synthèse du Module 6 : Sécurité &amp; DevSecOps. Incident simulé : détection, réaction et amélioration</vt:lpstr>
      <vt:lpstr>Synthèse du Module 6 : ce qu’il faut retenir 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Kit-CA CIB-english - 2015 - H1 2016 - August 2016</dc:title>
  <dc:creator>SimZIG</dc:creator>
  <cp:lastModifiedBy>Franck Dieny</cp:lastModifiedBy>
  <cp:revision>136</cp:revision>
  <cp:lastPrinted>2019-12-03T14:11:42Z</cp:lastPrinted>
  <dcterms:created xsi:type="dcterms:W3CDTF">2011-12-06T13:50:35Z</dcterms:created>
  <dcterms:modified xsi:type="dcterms:W3CDTF">2026-02-25T08:43:41Z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0x01010055A6A34606179B428CCD588D6092A603</vt:lpwstr>
  </property>
  <property fmtid="{D5CDD505-2E9C-101B-9397-08002B2CF9AE}" pid="3" name="MSIP_Label_4cad6431-53ea-4466-8111-3fefa470bcb9_Enabled">
    <vt:lpwstr>true</vt:lpwstr>
  </property>
  <property fmtid="{D5CDD505-2E9C-101B-9397-08002B2CF9AE}" pid="4" name="MSIP_Label_4cad6431-53ea-4466-8111-3fefa470bcb9_SetDate">
    <vt:lpwstr>2024-08-28T16:28:50Z</vt:lpwstr>
  </property>
  <property fmtid="{D5CDD505-2E9C-101B-9397-08002B2CF9AE}" pid="5" name="MSIP_Label_4cad6431-53ea-4466-8111-3fefa470bcb9_Method">
    <vt:lpwstr>Standard</vt:lpwstr>
  </property>
  <property fmtid="{D5CDD505-2E9C-101B-9397-08002B2CF9AE}" pid="6" name="MSIP_Label_4cad6431-53ea-4466-8111-3fefa470bcb9_Name">
    <vt:lpwstr>Usage Interne</vt:lpwstr>
  </property>
  <property fmtid="{D5CDD505-2E9C-101B-9397-08002B2CF9AE}" pid="7" name="MSIP_Label_4cad6431-53ea-4466-8111-3fefa470bcb9_SiteId">
    <vt:lpwstr>fb3baf17-c313-474c-8d5d-577a3ec97a32</vt:lpwstr>
  </property>
  <property fmtid="{D5CDD505-2E9C-101B-9397-08002B2CF9AE}" pid="8" name="MSIP_Label_4cad6431-53ea-4466-8111-3fefa470bcb9_ActionId">
    <vt:lpwstr>6f19eed6-6c64-48eb-bf83-f8fb0b7178b4</vt:lpwstr>
  </property>
  <property fmtid="{D5CDD505-2E9C-101B-9397-08002B2CF9AE}" pid="9" name="MSIP_Label_4cad6431-53ea-4466-8111-3fefa470bcb9_ContentBits">
    <vt:lpwstr>0</vt:lpwstr>
  </property>
  <property fmtid="{D5CDD505-2E9C-101B-9397-08002B2CF9AE}" pid="10" name="MediaServiceImageTags">
    <vt:lpwstr/>
  </property>
</Properties>
</file>